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0175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World Economic Forum, Future of Jobs Report 2025 digest, Jan 2025 — https://www.weforum.org/publications/the-future-of-jobs-report-2025/digest/
PwC, 2026 Global AI Jobs Barometer, Jun 2026 — https://www.pwc.com/gx/en/news-room/press-releases/2026/pwc-2026-ai-jobs-barometer.html and https://www.pwc.com/gx/en/services/ai/ai-jobs-barometer.html
ServiceNow AI Skills &amp; Jobs Report India, Nov 2024 — https://www.servicenow.com/it/company/media/press-room/india-jobs-growth-ai-report.html
EY-CII, The AIdea of India: Outlook 2026, Nov 2025 — https://www.ey.com/en_in/newsroom/2025/11/india-s-ai-shift-from-pilots-to-performance-47-percent-of-enterprises-have-multiple-ai-use-cases-live-in-production-ey-cii-report
Government of India PIB, AI@Work, Feb 2026; cites Stanford AI Index 2025 — https://www.pib.gov.in/PressReleasePage.aspx?PRID=2226912&amp;lang=1&amp;reg=3
Grand View Research, Global AI market report 2026-2033 — https://www.grandviewresearch.com/industry-analysis/artificial-intelligence-ai-market
IMARC, India AI market report 2026-2034 — https://www.imarcgroup.com/india-artificial-intelligence-market
Indeed India salary pages, updated Jun-Jul 2026 — https://in.indeed.com/career/ai%2Fml-engineer/salaries, https://in.indeed.com/career/machine-learning-engineer/salaries, https://in.indeed.com/career/data-scientist/salaries, https://in.indeed.com/career/ai-developer/salaries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World Economic Forum, Future of Jobs Report 2025 digest, Jan 2025 — https://www.weforum.org/publications/the-future-of-jobs-report-2025/digest/
PwC, 2026 Global AI Jobs Barometer, Jun 2026 — https://www.pwc.com/gx/en/news-room/press-releases/2026/pwc-2026-ai-jobs-barometer.html and https://www.pwc.com/gx/en/services/ai/ai-jobs-barometer.html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Grand View Research, Global AI market report 2026-2033 — https://www.grandviewresearch.com/industry-analysis/artificial-intelligence-ai-market
IMARC, India AI market report 2026-2034 — https://www.imarcgroup.com/india-artificial-intelligence-market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World Economic Forum, Future of Jobs Report 2025 digest, Jan 2025 — https://www.weforum.org/publications/the-future-of-jobs-report-2025/digest/
PwC, 2026 Global AI Jobs Barometer, Jun 2026 — https://www.pwc.com/gx/en/news-room/press-releases/2026/pwc-2026-ai-jobs-barometer.html and https://www.pwc.com/gx/en/services/ai/ai-jobs-barometer.html
ServiceNow AI Skills &amp; Jobs Report India, Nov 2024 — https://www.servicenow.com/it/company/media/press-room/india-jobs-growth-ai-report.html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EY-CII, The AIdea of India: Outlook 2026, Nov 2025 — https://www.ey.com/en_in/newsroom/2025/11/india-s-ai-shift-from-pilots-to-performance-47-percent-of-enterprises-have-multiple-ai-use-cases-live-in-production-ey-cii-report
ServiceNow AI Skills &amp; Jobs Report India, Nov 2024 — https://www.servicenow.com/it/company/media/press-room/india-jobs-growth-ai-report.html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PwC, 2026 Global AI Jobs Barometer, Jun 2026 — https://www.pwc.com/gx/en/news-room/press-releases/2026/pwc-2026-ai-jobs-barometer.html and https://www.pwc.com/gx/en/services/ai/ai-jobs-barometer.html
World Economic Forum, Future of Jobs Report 2025 digest, Jan 2025 — https://www.weforum.org/publications/the-future-of-jobs-report-2025/digest/
Indeed India salary pages, updated Jun-Jul 2026 — https://in.indeed.com/career/ai%2Fml-engineer/salaries, https://in.indeed.com/career/machine-learning-engineer/salaries, https://in.indeed.com/career/data-scientist/salaries, https://in.indeed.com/career/ai-developer/salaries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Indeed India salary pages, updated Jun-Jul 2026 — https://in.indeed.com/career/ai%2Fml-engineer/salaries, https://in.indeed.com/career/machine-learning-engineer/salaries, https://in.indeed.com/career/data-scientist/salaries, https://in.indeed.com/career/ai-developer/salaries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Indeed India salary pages, updated Jun-Jul 2026 — https://in.indeed.com/career/ai%2Fml-engineer/salaries, https://in.indeed.com/career/machine-learning-engineer/salaries, https://in.indeed.com/career/data-scientist/salaries, https://in.indeed.com/career/ai-developer/salaries
PwC, 2026 Global AI Jobs Barometer, Jun 2026 — https://www.pwc.com/gx/en/news-room/press-releases/2026/pwc-2026-ai-jobs-barometer.html and https://www.pwc.com/gx/en/services/ai/ai-jobs-barometer.html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PwC, 2026 Global AI Jobs Barometer, Jun 2026 — https://www.pwc.com/gx/en/news-room/press-releases/2026/pwc-2026-ai-jobs-barometer.html and https://www.pwc.com/gx/en/services/ai/ai-jobs-barometer.html
EY-CII, The AIdea of India: Outlook 2026, Nov 2025 — https://www.ey.com/en_in/newsroom/2025/11/india-s-ai-shift-from-pilots-to-performance-47-percent-of-enterprises-have-multiple-ai-use-cases-live-in-production-ey-cii-report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PwC, 2026 Global AI Jobs Barometer, Jun 2026 — https://www.pwc.com/gx/en/news-room/press-releases/2026/pwc-2026-ai-jobs-barometer.html and https://www.pwc.com/gx/en/services/ai/ai-jobs-barometer.html
Indeed India salary pages, updated Jun-Jul 2026 — https://in.indeed.com/career/ai%2Fml-engineer/salaries, https://in.indeed.com/career/machine-learning-engineer/salaries, https://in.indeed.com/career/data-scientist/salaries, https://in.indeed.com/career/ai-developer/salaries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EY-CII, The AIdea of India: Outlook 2026, Nov 2025 — https://www.ey.com/en_in/newsroom/2025/11/india-s-ai-shift-from-pilots-to-performance-47-percent-of-enterprises-have-multiple-ai-use-cases-live-in-production-ey-cii-report
ServiceNow AI Skills &amp; Jobs Report India, Nov 2024 — https://www.servicenow.com/it/company/media/press-room/india-jobs-growth-ai-report.html
Government of India PIB, AI@Work, Feb 2026; cites Stanford AI Index 2025 — https://www.pib.gov.in/PressReleasePage.aspx?PRID=2226912&amp;lang=1&amp;reg=3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PwC, 2026 Global AI Jobs Barometer, Jun 2026 — https://www.pwc.com/gx/en/news-room/press-releases/2026/pwc-2026-ai-jobs-barometer.html and https://www.pwc.com/gx/en/services/ai/ai-jobs-barometer.html
World Economic Forum, Future of Jobs Report 2025 digest, Jan 2025 — https://www.weforum.org/publications/the-future-of-jobs-report-2025/digest/
Government of India PIB, AI@Work, Feb 2026; cites Stanford AI Index 2025 — https://www.pib.gov.in/PressReleasePage.aspx?PRID=2226912&amp;lang=1&amp;reg=3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Indeed India salary pages, updated Jun-Jul 2026 — https://in.indeed.com/career/ai%2Fml-engineer/salaries, https://in.indeed.com/career/machine-learning-engineer/salaries, https://in.indeed.com/career/data-scientist/salaries, https://in.indeed.com/career/ai-developer/salaries
TCS iON, Machine Learning Engineer Salary in 2026 — https://www.tcsion.com/blog/Machine-Learning-Engineer-Salary-in-2025-EntryLevel-to-Senior-Breakdown
Ranges are conservative estimates for freshers; salary portals are sample-based and should not be treated as guaranteed offers.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Indeed India salary pages, updated Jun-Jul 2026 — https://in.indeed.com/career/ai%2Fml-engineer/salaries, https://in.indeed.com/career/machine-learning-engineer/salaries, https://in.indeed.com/career/data-scientist/salaries, https://in.indeed.com/career/ai-developer/salaries
PwC, 2026 Global AI Jobs Barometer, Jun 2026 — https://www.pwc.com/gx/en/news-room/press-releases/2026/pwc-2026-ai-jobs-barometer.html and https://www.pwc.com/gx/en/services/ai/ai-jobs-barometer.html
TCS iON, Machine Learning Engineer Salary in 2026 — https://www.tcsion.com/blog/Machine-Learning-Engineer-Salary-in-2025-EntryLevel-to-Senior-Breakdown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Indeed India salary pages, updated Jun-Jul 2026 — https://in.indeed.com/career/ai%2Fml-engineer/salaries, https://in.indeed.com/career/machine-learning-engineer/salaries, https://in.indeed.com/career/data-scientist/salaries, https://in.indeed.com/career/ai-developer/salaries
PwC, 2026 Global AI Jobs Barometer, Jun 2026 — https://www.pwc.com/gx/en/news-room/press-releases/2026/pwc-2026-ai-jobs-barometer.html and https://www.pwc.com/gx/en/services/ai/ai-jobs-barometer.html
TCS iON, Machine Learning Engineer Salary in 2026 — https://www.tcsion.com/blog/Machine-Learning-Engineer-Salary-in-2025-EntryLevel-to-Senior-Breakdown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World Economic Forum, Future of Jobs Report 2025 digest, Jan 2025 — https://www.weforum.org/publications/the-future-of-jobs-report-2025/digest/
PwC, 2026 Global AI Jobs Barometer, Jun 2026 — https://www.pwc.com/gx/en/news-room/press-releases/2026/pwc-2026-ai-jobs-barometer.html and https://www.pwc.com/gx/en/services/ai/ai-jobs-barometer.html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World Economic Forum, Future of Jobs Report 2025 digest, Jan 2025 — https://www.weforum.org/publications/the-future-of-jobs-report-2025/digest/
PwC, 2026 Global AI Jobs Barometer, Jun 2026 — https://www.pwc.com/gx/en/news-room/press-releases/2026/pwc-2026-ai-jobs-barometer.html and https://www.pwc.com/gx/en/services/ai/ai-jobs-barometer.html
Indeed India salary pages, updated Jun-Jul 2026 — https://in.indeed.com/career/ai%2Fml-engineer/salaries, https://in.indeed.com/career/machine-learning-engineer/salaries, https://in.indeed.com/career/data-scientist/salaries, https://in.indeed.com/career/ai-developer/salaries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World Economic Forum, Future of Jobs Report 2025 digest, Jan 2025 — https://www.weforum.org/publications/the-future-of-jobs-report-2025/digest/
PwC, 2026 Global AI Jobs Barometer, Jun 2026 — https://www.pwc.com/gx/en/news-room/press-releases/2026/pwc-2026-ai-jobs-barometer.html and https://www.pwc.com/gx/en/services/ai/ai-jobs-barometer.html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PwC, 2026 Global AI Jobs Barometer, Jun 2026 — https://www.pwc.com/gx/en/news-room/press-releases/2026/pwc-2026-ai-jobs-barometer.html and https://www.pwc.com/gx/en/services/ai/ai-jobs-barometer.html
World Economic Forum, Future of Jobs Report 2025 digest, Jan 2025 — https://www.weforum.org/publications/the-future-of-jobs-report-2025/digest/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PwC, 2026 Global AI Jobs Barometer, Jun 2026 — https://www.pwc.com/gx/en/news-room/press-releases/2026/pwc-2026-ai-jobs-barometer.html and https://www.pwc.com/gx/en/services/ai/ai-jobs-barometer.html
World Economic Forum, Future of Jobs Report 2025 digest, Jan 2025 — https://www.weforum.org/publications/the-future-of-jobs-report-2025/digest/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World Economic Forum, Future of Jobs Report 2025 digest, Jan 2025 — https://www.weforum.org/publications/the-future-of-jobs-report-2025/digest/
PwC, 2026 Global AI Jobs Barometer, Jun 2026 — https://www.pwc.com/gx/en/news-room/press-releases/2026/pwc-2026-ai-jobs-barometer.html and https://www.pwc.com/gx/en/services/ai/ai-jobs-barometer.html
Indeed India salary pages, updated Jun-Jul 2026 — https://in.indeed.com/career/ai%2Fml-engineer/salaries, https://in.indeed.com/career/machine-learning-engineer/salaries, https://in.indeed.com/career/data-scientist/salaries, https://in.indeed.com/career/ai-developer/salaries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PwC, 2026 Global AI Jobs Barometer, Jun 2026 — https://www.pwc.com/gx/en/news-room/press-releases/2026/pwc-2026-ai-jobs-barometer.html and https://www.pwc.com/gx/en/services/ai/ai-jobs-barometer.html
World Economic Forum, Future of Jobs Report 2025 digest, Jan 2025 — https://www.weforum.org/publications/the-future-of-jobs-report-2025/digest/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ServiceNow AI Skills &amp; Jobs Report India, Nov 2024 — https://www.servicenow.com/it/company/media/press-room/india-jobs-growth-ai-report.html
Indeed India salary pages, updated Jun-Jul 2026 — https://in.indeed.com/career/ai%2Fml-engineer/salaries, https://in.indeed.com/career/machine-learning-engineer/salaries, https://in.indeed.com/career/data-scientist/salaries, https://in.indeed.com/career/ai-developer/salaries
PwC, 2026 Global AI Jobs Barometer, Jun 2026 — https://www.pwc.com/gx/en/news-room/press-releases/2026/pwc-2026-ai-jobs-barometer.html and https://www.pwc.com/gx/en/services/ai/ai-jobs-barometer.html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EY-CII, The AIdea of India: Outlook 2026, Nov 2025 — https://www.ey.com/en_in/newsroom/2025/11/india-s-ai-shift-from-pilots-to-performance-47-percent-of-enterprises-have-multiple-ai-use-cases-live-in-production-ey-cii-report
ServiceNow AI Skills &amp; Jobs Report India, Nov 2024 — https://www.servicenow.com/it/company/media/press-room/india-jobs-growth-ai-report.html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World Economic Forum, Future of Jobs Report 2025 digest, Jan 2025 — https://www.weforum.org/publications/the-future-of-jobs-report-2025/digest/
PwC, 2026 Global AI Jobs Barometer, Jun 2026 — https://www.pwc.com/gx/en/news-room/press-releases/2026/pwc-2026-ai-jobs-barometer.html and https://www.pwc.com/gx/en/services/ai/ai-jobs-barometer.html
Indeed India salary pages, updated Jun-Jul 2026 — https://in.indeed.com/career/ai%2Fml-engineer/salaries, https://in.indeed.com/career/machine-learning-engineer/salaries, https://in.indeed.com/career/data-scientist/salaries, https://in.indeed.com/career/ai-developer/salaries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World Economic Forum, Future of Jobs Report 2025 digest, Jan 2025 — https://www.weforum.org/publications/the-future-of-jobs-report-2025/digest/
PwC, 2026 Global AI Jobs Barometer, Jun 2026 — https://www.pwc.com/gx/en/news-room/press-releases/2026/pwc-2026-ai-jobs-barometer.html and https://www.pwc.com/gx/en/services/ai/ai-jobs-barometer.html
ServiceNow AI Skills &amp; Jobs Report India, Nov 2024 — https://www.servicenow.com/it/company/media/press-room/india-jobs-growth-ai-report.html
EY-CII, The AIdea of India: Outlook 2026, Nov 2025 — https://www.ey.com/en_in/newsroom/2025/11/india-s-ai-shift-from-pilots-to-performance-47-percent-of-enterprises-have-multiple-ai-use-cases-live-in-production-ey-cii-report
Government of India PIB, AI@Work, Feb 2026; cites Stanford AI Index 2025 — https://www.pib.gov.in/PressReleasePage.aspx?PRID=2226912&amp;lang=1&amp;reg=3
Grand View Research, Global AI market report 2026-2033 — https://www.grandviewresearch.com/industry-analysis/artificial-intelligence-ai-market
IMARC, India AI market report 2026-2034 — https://www.imarcgroup.com/india-artificial-intelligence-market
Indeed India salary pages, updated Jun-Jul 2026 — https://in.indeed.com/career/ai%2Fml-engineer/salaries, https://in.indeed.com/career/machine-learning-engineer/salaries, https://in.indeed.com/career/data-scientist/salaries, https://in.indeed.com/career/ai-developer/salaries
TCS iON, Machine Learning Engineer Salary in 2026 — https://www.tcsion.com/blog/Machine-Learning-Engineer-Salary-in-2025-EntryLevel-to-Senior-Breakdown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A"/>
          </a:solidFill>
          <a:ln w="12700">
            <a:solidFill>
              <a:srgbClr val="0714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510528"/>
            <a:ext cx="11292840" cy="0"/>
          </a:xfrm>
          <a:prstGeom prst="line">
            <a:avLst/>
          </a:prstGeom>
          <a:noFill/>
          <a:ln w="12700">
            <a:solidFill>
              <a:srgbClr val="1EA7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Jobs Trends 2026 • India Fresher Guide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tech_themed_digital_illustration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6">
              <a:alpha val="72000"/>
            </a:srgbClr>
          </a:solidFill>
          <a:ln w="12700">
            <a:solidFill>
              <a:srgbClr val="02091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30A16">
              <a:alpha val="95000"/>
            </a:srgbClr>
          </a:solidFill>
          <a:ln w="12700">
            <a:solidFill>
              <a:srgbClr val="030A16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8368" y="640080"/>
            <a:ext cx="1600200" cy="237744"/>
          </a:xfrm>
          <a:prstGeom prst="roundRect">
            <a:avLst>
              <a:gd name="adj" fmla="val 15385"/>
            </a:avLst>
          </a:prstGeom>
          <a:solidFill>
            <a:srgbClr val="18C7FF">
              <a:alpha val="85000"/>
            </a:srgbClr>
          </a:solidFill>
          <a:ln w="6350">
            <a:solidFill>
              <a:srgbClr val="18C7FF">
                <a:alpha val="7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690372"/>
            <a:ext cx="1490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5FAFF"/>
                </a:solidFill>
              </a:rPr>
              <a:t>2026 INDIA EDITION</a:t>
            </a:r>
            <a:endParaRPr lang="en-US" sz="660" dirty="0"/>
          </a:p>
        </p:txBody>
      </p:sp>
      <p:sp>
        <p:nvSpPr>
          <p:cNvPr id="7" name="Text 4"/>
          <p:cNvSpPr/>
          <p:nvPr/>
        </p:nvSpPr>
        <p:spPr>
          <a:xfrm>
            <a:off x="658368" y="12344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Jobs Trends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676656" y="194767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A8BED4"/>
                </a:solidFill>
              </a:rPr>
              <a:t>Market reports • role map • fresher salaries • skills roadmap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85800" y="27889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5FAFF"/>
                </a:solidFill>
              </a:rPr>
              <a:t>For 5th semester engineering students planning AI careers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" y="4160520"/>
            <a:ext cx="1463040" cy="987552"/>
          </a:xfrm>
          <a:prstGeom prst="roundRect">
            <a:avLst>
              <a:gd name="adj" fmla="val 8333"/>
            </a:avLst>
          </a:prstGeom>
          <a:solidFill>
            <a:srgbClr val="102A4C"/>
          </a:solidFill>
          <a:ln w="12700">
            <a:solidFill>
              <a:srgbClr val="23D18B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816" y="432511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3D18B"/>
                </a:solidFill>
              </a:rPr>
              <a:t>2.73M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22960" y="47274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8BED4"/>
                </a:solidFill>
              </a:rPr>
              <a:t>new tech jobs projected in India by 2028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331720" y="4160520"/>
            <a:ext cx="1554480" cy="987552"/>
          </a:xfrm>
          <a:prstGeom prst="roundRect">
            <a:avLst>
              <a:gd name="adj" fmla="val 8333"/>
            </a:avLst>
          </a:prstGeom>
          <a:solidFill>
            <a:srgbClr val="102A4C"/>
          </a:solidFill>
          <a:ln w="12700">
            <a:solidFill>
              <a:srgbClr val="18C7FF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59736" y="432511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8C7FF"/>
                </a:solidFill>
              </a:rPr>
              <a:t>62%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468880" y="47274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8BED4"/>
                </a:solidFill>
              </a:rPr>
              <a:t>global wage premium for AI skills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069080" y="4160520"/>
            <a:ext cx="1417320" cy="987552"/>
          </a:xfrm>
          <a:prstGeom prst="roundRect">
            <a:avLst>
              <a:gd name="adj" fmla="val 8333"/>
            </a:avLst>
          </a:prstGeom>
          <a:solidFill>
            <a:srgbClr val="102A4C"/>
          </a:solidFill>
          <a:ln w="12700">
            <a:solidFill>
              <a:srgbClr val="FFCB45">
                <a:alpha val="6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97096" y="4325112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>
                <a:solidFill>
                  <a:srgbClr val="FFCB45"/>
                </a:solidFill>
              </a:rPr>
              <a:t>₹7–15L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206240" y="47274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8BED4"/>
                </a:solidFill>
              </a:rPr>
              <a:t>common fresher range for strong AI profiles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870448" y="632764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Sources inside deck: WEF, PwC, ServiceNow, EY-CII, PIB/Stanford AI Index, Grand View Research, IMARC, Indeed India.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802BE9FF-4BF8-929D-1479-D47F5BF78172}"/>
              </a:ext>
            </a:extLst>
          </p:cNvPr>
          <p:cNvSpPr/>
          <p:nvPr/>
        </p:nvSpPr>
        <p:spPr>
          <a:xfrm>
            <a:off x="9565301" y="6190488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chemeClr val="bg1"/>
                </a:solidFill>
              </a:rPr>
              <a:t>By Sanjay 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blunt reality for freshers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AI jobs are growing, but “I know Python and copied a notebook” is not enough.</a:t>
            </a:r>
            <a:endParaRPr lang="en-US" sz="950" dirty="0"/>
          </a:p>
        </p:txBody>
      </p:sp>
      <p:pic>
        <p:nvPicPr>
          <p:cNvPr id="4" name="Image 0" descr="/mnt/data/a_wide_cinematic_modern_classroom_lecture_scene.png"/>
          <p:cNvPicPr>
            <a:picLocks noChangeAspect="1"/>
          </p:cNvPicPr>
          <p:nvPr/>
        </p:nvPicPr>
        <p:blipFill>
          <a:blip r:embed="rId3"/>
          <a:srcRect l="20827" r="20827"/>
          <a:stretch/>
        </p:blipFill>
        <p:spPr>
          <a:xfrm>
            <a:off x="6537960" y="1078992"/>
            <a:ext cx="5166360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234440"/>
            <a:ext cx="5257800" cy="4407408"/>
          </a:xfrm>
          <a:prstGeom prst="roundRect">
            <a:avLst>
              <a:gd name="adj" fmla="val 1660"/>
            </a:avLst>
          </a:prstGeom>
          <a:solidFill>
            <a:srgbClr val="102A4C"/>
          </a:solidFill>
          <a:ln w="12700">
            <a:solidFill>
              <a:srgbClr val="18C7FF">
                <a:alpha val="5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155448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0" b="1" dirty="0">
                <a:solidFill>
                  <a:srgbClr val="18C7FF"/>
                </a:solidFill>
              </a:rPr>
              <a:t>WHAT COMPANIES ARE REALLY BUYING</a:t>
            </a:r>
            <a:endParaRPr lang="en-US" sz="630" dirty="0"/>
          </a:p>
        </p:txBody>
      </p:sp>
      <p:sp>
        <p:nvSpPr>
          <p:cNvPr id="7" name="Text 4"/>
          <p:cNvSpPr/>
          <p:nvPr/>
        </p:nvSpPr>
        <p:spPr>
          <a:xfrm>
            <a:off x="914400" y="1874520"/>
            <a:ext cx="4526280" cy="1874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500" dirty="0">
                <a:solidFill>
                  <a:srgbClr val="F5FAFF"/>
                </a:solidFill>
              </a:rPr>
              <a:t>Ability to turn data + model into a working product</a:t>
            </a:r>
            <a:endParaRPr lang="en-US" sz="1500" dirty="0"/>
          </a:p>
          <a:p>
            <a:r>
              <a:rPr lang="en-US" sz="1500" dirty="0">
                <a:solidFill>
                  <a:srgbClr val="F5FAFF"/>
                </a:solidFill>
              </a:rPr>
              <a:t>Good engineering: APIs, testing, Docker, cloud basics</a:t>
            </a:r>
            <a:endParaRPr lang="en-US" sz="1500" dirty="0"/>
          </a:p>
          <a:p>
            <a:r>
              <a:rPr lang="en-US" sz="1500" dirty="0">
                <a:solidFill>
                  <a:srgbClr val="F5FAFF"/>
                </a:solidFill>
              </a:rPr>
              <a:t>Judgement: when not to use AI, and how to measure risk</a:t>
            </a:r>
            <a:endParaRPr lang="en-US" sz="1500" dirty="0"/>
          </a:p>
          <a:p>
            <a:r>
              <a:rPr lang="en-US" sz="1500" dirty="0">
                <a:solidFill>
                  <a:srgbClr val="F5FAFF"/>
                </a:solidFill>
              </a:rPr>
              <a:t>Communication: explain trade-offs without hiding behind jargon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4315968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0" b="1" dirty="0">
                <a:solidFill>
                  <a:srgbClr val="FF5B5B"/>
                </a:solidFill>
              </a:rPr>
              <a:t>WRONG STUDENT ASSUMPTION</a:t>
            </a:r>
            <a:endParaRPr lang="en-US" sz="630" dirty="0"/>
          </a:p>
        </p:txBody>
      </p:sp>
      <p:sp>
        <p:nvSpPr>
          <p:cNvPr id="9" name="Text 6"/>
          <p:cNvSpPr/>
          <p:nvPr/>
        </p:nvSpPr>
        <p:spPr>
          <a:xfrm>
            <a:off x="914400" y="45537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AFF"/>
                </a:solidFill>
              </a:rPr>
              <a:t>“AI job = only model training.”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49194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A8BED4"/>
                </a:solidFill>
              </a:rPr>
              <a:t>Most real jobs are data, integration, deployment, monitoring, evaluation, and business impact.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Framing based on WEF skill trends and PwC 2026 AI Jobs Barometer.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size: why companies are hiring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AI has moved from experiment to core business infrastructure.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2057400" cy="987552"/>
          </a:xfrm>
          <a:prstGeom prst="roundRect">
            <a:avLst>
              <a:gd name="adj" fmla="val 8333"/>
            </a:avLst>
          </a:prstGeom>
          <a:solidFill>
            <a:srgbClr val="102A4C"/>
          </a:solidFill>
          <a:ln w="12700">
            <a:solidFill>
              <a:srgbClr val="18C7FF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3816" y="139903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8C7FF"/>
                </a:solidFill>
              </a:rPr>
              <a:t>$390.9B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18013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8BED4"/>
                </a:solidFill>
              </a:rPr>
              <a:t>global AI market size in 2025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017520" y="1234440"/>
            <a:ext cx="2148840" cy="987552"/>
          </a:xfrm>
          <a:prstGeom prst="roundRect">
            <a:avLst>
              <a:gd name="adj" fmla="val 8333"/>
            </a:avLst>
          </a:prstGeom>
          <a:solidFill>
            <a:srgbClr val="102A4C"/>
          </a:solidFill>
          <a:ln w="12700">
            <a:solidFill>
              <a:srgbClr val="23D18B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45536" y="1399032"/>
            <a:ext cx="1892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3D18B"/>
                </a:solidFill>
              </a:rPr>
              <a:t>$539.5B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154680" y="18013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8BED4"/>
                </a:solidFill>
              </a:rPr>
              <a:t>estimated global AI market size in 2026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40680" y="1234440"/>
            <a:ext cx="1965960" cy="987552"/>
          </a:xfrm>
          <a:prstGeom prst="roundRect">
            <a:avLst>
              <a:gd name="adj" fmla="val 8333"/>
            </a:avLst>
          </a:prstGeom>
          <a:solidFill>
            <a:srgbClr val="102A4C"/>
          </a:solidFill>
          <a:ln w="12700">
            <a:solidFill>
              <a:srgbClr val="FFCB45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68696" y="1399032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CB45"/>
                </a:solidFill>
              </a:rPr>
              <a:t>$3.5T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77840" y="1801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8BED4"/>
                </a:solidFill>
              </a:rPr>
              <a:t>projected global AI market by 2033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680960" y="1234440"/>
            <a:ext cx="2011680" cy="987552"/>
          </a:xfrm>
          <a:prstGeom prst="roundRect">
            <a:avLst>
              <a:gd name="adj" fmla="val 8333"/>
            </a:avLst>
          </a:prstGeom>
          <a:solidFill>
            <a:srgbClr val="102A4C"/>
          </a:solidFill>
          <a:ln w="12700">
            <a:solidFill>
              <a:srgbClr val="A86BFF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08976" y="1399032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A86BFF"/>
                </a:solidFill>
              </a:rPr>
              <a:t>26.5%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818120" y="1801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8BED4"/>
                </a:solidFill>
              </a:rPr>
              <a:t>India AI market CAGR projected 2026–2034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2743200"/>
            <a:ext cx="5074920" cy="2697480"/>
          </a:xfrm>
          <a:prstGeom prst="roundRect">
            <a:avLst>
              <a:gd name="adj" fmla="val 2712"/>
            </a:avLst>
          </a:prstGeom>
          <a:solidFill>
            <a:srgbClr val="0D2445"/>
          </a:solidFill>
          <a:ln w="6350">
            <a:solidFill>
              <a:srgbClr val="2347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01752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0" b="1" dirty="0">
                <a:solidFill>
                  <a:srgbClr val="18C7FF"/>
                </a:solidFill>
              </a:rPr>
              <a:t>GLOBAL AI MARKET FORECAST</a:t>
            </a:r>
            <a:endParaRPr lang="en-US" sz="630" dirty="0"/>
          </a:p>
        </p:txBody>
      </p:sp>
      <p:sp>
        <p:nvSpPr>
          <p:cNvPr id="18" name="Text 16"/>
          <p:cNvSpPr/>
          <p:nvPr/>
        </p:nvSpPr>
        <p:spPr>
          <a:xfrm>
            <a:off x="1051560" y="341985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A8BED4"/>
                </a:solidFill>
              </a:rPr>
              <a:t>2025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64408" y="3438144"/>
            <a:ext cx="1920240" cy="1463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64408" y="3438144"/>
            <a:ext cx="214629" cy="146304"/>
          </a:xfrm>
          <a:prstGeom prst="rect">
            <a:avLst/>
          </a:prstGeom>
          <a:solidFill>
            <a:srgbClr val="2D7CFF"/>
          </a:solidFill>
          <a:ln w="12700">
            <a:solidFill>
              <a:srgbClr val="2D7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341071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F5FAFF"/>
                </a:solidFill>
              </a:rPr>
              <a:t>$390.9B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51560" y="392277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A8BED4"/>
                </a:solidFill>
              </a:rPr>
              <a:t>2026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64408" y="3941064"/>
            <a:ext cx="1920240" cy="1463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64408" y="3941064"/>
            <a:ext cx="296220" cy="146304"/>
          </a:xfrm>
          <a:prstGeom prst="rect">
            <a:avLst/>
          </a:prstGeom>
          <a:solidFill>
            <a:srgbClr val="23D18B"/>
          </a:solidFill>
          <a:ln w="12700">
            <a:solidFill>
              <a:srgbClr val="23D1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391363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F5FAFF"/>
                </a:solidFill>
              </a:rPr>
              <a:t>$539.5B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51560" y="44256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A8BED4"/>
                </a:solidFill>
              </a:rPr>
              <a:t>2033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64408" y="4443984"/>
            <a:ext cx="1920240" cy="1463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64408" y="4443984"/>
            <a:ext cx="1920240" cy="146304"/>
          </a:xfrm>
          <a:prstGeom prst="rect">
            <a:avLst/>
          </a:prstGeom>
          <a:solidFill>
            <a:srgbClr val="FFCB45"/>
          </a:solidFill>
          <a:ln w="12700">
            <a:solidFill>
              <a:srgbClr val="FFC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44165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F5FAFF"/>
                </a:solidFill>
              </a:rPr>
              <a:t>$3.5T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051560" y="489204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The jobs are not only in “AI companies”. Hiring comes from every sector trying to automate decisions, operations and customer experience.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92240" y="2743200"/>
            <a:ext cx="4572000" cy="2697480"/>
          </a:xfrm>
          <a:prstGeom prst="roundRect">
            <a:avLst>
              <a:gd name="adj" fmla="val 2712"/>
            </a:avLst>
          </a:prstGeom>
          <a:solidFill>
            <a:srgbClr val="0D2445"/>
          </a:solidFill>
          <a:ln w="6350">
            <a:solidFill>
              <a:srgbClr val="2347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301752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0" b="1" dirty="0">
                <a:solidFill>
                  <a:srgbClr val="18C7FF"/>
                </a:solidFill>
              </a:rPr>
              <a:t>INDIA AI MARKET FORECAST</a:t>
            </a:r>
            <a:endParaRPr lang="en-US" sz="630" dirty="0"/>
          </a:p>
        </p:txBody>
      </p:sp>
      <p:sp>
        <p:nvSpPr>
          <p:cNvPr id="33" name="Text 31"/>
          <p:cNvSpPr/>
          <p:nvPr/>
        </p:nvSpPr>
        <p:spPr>
          <a:xfrm>
            <a:off x="6812280" y="35021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A8BED4"/>
                </a:solidFill>
              </a:rPr>
              <a:t>2025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025128" y="3520440"/>
            <a:ext cx="2057400" cy="1463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25128" y="3520440"/>
            <a:ext cx="248069" cy="146304"/>
          </a:xfrm>
          <a:prstGeom prst="rect">
            <a:avLst/>
          </a:prstGeom>
          <a:solidFill>
            <a:srgbClr val="2D7CFF"/>
          </a:solidFill>
          <a:ln w="12700">
            <a:solidFill>
              <a:srgbClr val="2D7C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018520" y="349300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F5FAFF"/>
                </a:solidFill>
              </a:rPr>
              <a:t>$1.6B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812280" y="410565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A8BED4"/>
                </a:solidFill>
              </a:rPr>
              <a:t>2034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025128" y="4123944"/>
            <a:ext cx="2057400" cy="1463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25128" y="4123944"/>
            <a:ext cx="2057400" cy="146304"/>
          </a:xfrm>
          <a:prstGeom prst="rect">
            <a:avLst/>
          </a:prstGeom>
          <a:solidFill>
            <a:srgbClr val="FFCB45"/>
          </a:solidFill>
          <a:ln w="12700">
            <a:solidFill>
              <a:srgbClr val="FFCB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018520" y="409651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F5FAFF"/>
                </a:solidFill>
              </a:rPr>
              <a:t>$13.25B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812280" y="48006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India’s market is smaller than the US/China giants, but the growth rate and adoption curve create fresher opportunities in implementation roles.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Sources: Grand View Research global AI market; IMARC India AI market.</a:t>
            </a:r>
            <a:endParaRPr lang="en-US" sz="58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 signals: AI demand is real, but the bar is higher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Students should read the market correctly: demand is shifting toward production-ready skills.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074920" cy="1508760"/>
          </a:xfrm>
          <a:prstGeom prst="roundRect">
            <a:avLst>
              <a:gd name="adj" fmla="val 6061"/>
            </a:avLst>
          </a:prstGeom>
          <a:solidFill>
            <a:srgbClr val="102A4C"/>
          </a:solidFill>
          <a:ln w="12700">
            <a:solidFill>
              <a:srgbClr val="18C7FF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270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8C7FF"/>
                </a:solidFill>
              </a:rPr>
              <a:t>WEF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449884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AFF"/>
                </a:solidFill>
              </a:rPr>
              <a:t>AI &amp; big data are among the fastest-growing skills for 2025–2030.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325880"/>
            <a:ext cx="5074920" cy="1508760"/>
          </a:xfrm>
          <a:prstGeom prst="roundRect">
            <a:avLst>
              <a:gd name="adj" fmla="val 6061"/>
            </a:avLst>
          </a:prstGeom>
          <a:solidFill>
            <a:srgbClr val="102A4C"/>
          </a:solidFill>
          <a:ln w="12700">
            <a:solidFill>
              <a:srgbClr val="23D18B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52704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3D18B"/>
                </a:solidFill>
              </a:rPr>
              <a:t>PwC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1874520"/>
            <a:ext cx="449884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AFF"/>
                </a:solidFill>
              </a:rPr>
              <a:t>AI-skilled jobs are growing ~8× faster than the overall job market; AI wage premium: 62%.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5074920" cy="1508760"/>
          </a:xfrm>
          <a:prstGeom prst="roundRect">
            <a:avLst>
              <a:gd name="adj" fmla="val 6061"/>
            </a:avLst>
          </a:prstGeom>
          <a:solidFill>
            <a:srgbClr val="102A4C"/>
          </a:solidFill>
          <a:ln w="12700">
            <a:solidFill>
              <a:srgbClr val="FFCB45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5387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CB45"/>
                </a:solidFill>
              </a:rPr>
              <a:t>PwC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886200"/>
            <a:ext cx="449884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AFF"/>
                </a:solidFill>
              </a:rPr>
              <a:t>AI-exposed junior roles are 7× more likely to ask for judgement and leadership.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3337560"/>
            <a:ext cx="5074920" cy="1508760"/>
          </a:xfrm>
          <a:prstGeom prst="roundRect">
            <a:avLst>
              <a:gd name="adj" fmla="val 6061"/>
            </a:avLst>
          </a:prstGeom>
          <a:solidFill>
            <a:srgbClr val="102A4C"/>
          </a:solidFill>
          <a:ln w="12700">
            <a:solidFill>
              <a:srgbClr val="A86BFF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5387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A86BFF"/>
                </a:solidFill>
              </a:rPr>
              <a:t>India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886200"/>
            <a:ext cx="449884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AFF"/>
                </a:solidFill>
              </a:rPr>
              <a:t>ServiceNow projects 2.73M new tech jobs in India by 2028 from emerging technology.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120" y="5532120"/>
            <a:ext cx="10332720" cy="502920"/>
          </a:xfrm>
          <a:prstGeom prst="roundRect">
            <a:avLst>
              <a:gd name="adj" fmla="val 10909"/>
            </a:avLst>
          </a:prstGeom>
          <a:solidFill>
            <a:srgbClr val="061A31"/>
          </a:solidFill>
          <a:ln w="7620">
            <a:solidFill>
              <a:srgbClr val="18C7FF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5687568"/>
            <a:ext cx="9829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FAFF"/>
                </a:solidFill>
              </a:rPr>
              <a:t>Takeaway for freshers: your safest path is not “only AI theory” or “only tools”; it is AI + software engineering + deployment + business explanation.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Sources: WEF Future of Jobs 2025; PwC 2026 AI Jobs Barometer; ServiceNow India AI Skills &amp; Jobs Report.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India trend: scaled AI adoption is creating implementation roles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Fresher jobs will cluster around deploying AI into real workflows, not only research.</a:t>
            </a:r>
            <a:endParaRPr lang="en-US" sz="950" dirty="0"/>
          </a:p>
        </p:txBody>
      </p:sp>
      <p:pic>
        <p:nvPicPr>
          <p:cNvPr id="4" name="Image 0" descr="/mnt/data/a_wide_detailed_composite_collage_scene_showing_a.png"/>
          <p:cNvPicPr>
            <a:picLocks noChangeAspect="1"/>
          </p:cNvPicPr>
          <p:nvPr/>
        </p:nvPicPr>
        <p:blipFill>
          <a:blip r:embed="rId3"/>
          <a:srcRect l="20827" r="20827"/>
          <a:stretch/>
        </p:blipFill>
        <p:spPr>
          <a:xfrm>
            <a:off x="566928" y="1097280"/>
            <a:ext cx="5166360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99632" y="1234440"/>
            <a:ext cx="2011680" cy="987552"/>
          </a:xfrm>
          <a:prstGeom prst="roundRect">
            <a:avLst>
              <a:gd name="adj" fmla="val 8333"/>
            </a:avLst>
          </a:prstGeom>
          <a:solidFill>
            <a:srgbClr val="102A4C"/>
          </a:solidFill>
          <a:ln w="12700">
            <a:solidFill>
              <a:srgbClr val="23D18B">
                <a:alpha val="6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27648" y="1399032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3D18B"/>
                </a:solidFill>
              </a:rPr>
              <a:t>47%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336792" y="1801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8BED4"/>
                </a:solidFill>
              </a:rPr>
              <a:t>Indian enterprises with multiple GenAI use cases live in production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458200" y="1234440"/>
            <a:ext cx="1783080" cy="987552"/>
          </a:xfrm>
          <a:prstGeom prst="roundRect">
            <a:avLst>
              <a:gd name="adj" fmla="val 8333"/>
            </a:avLst>
          </a:prstGeom>
          <a:solidFill>
            <a:srgbClr val="102A4C"/>
          </a:solidFill>
          <a:ln w="12700">
            <a:solidFill>
              <a:srgbClr val="18C7FF">
                <a:alpha val="6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86216" y="1399032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8C7FF"/>
                </a:solidFill>
              </a:rPr>
              <a:t>23%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595360" y="18013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8BED4"/>
                </a:solidFill>
              </a:rPr>
              <a:t>Indian enterprises still in GenAI pilot stage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0442448" y="1234440"/>
            <a:ext cx="1234440" cy="987552"/>
          </a:xfrm>
          <a:prstGeom prst="roundRect">
            <a:avLst>
              <a:gd name="adj" fmla="val 8333"/>
            </a:avLst>
          </a:prstGeom>
          <a:solidFill>
            <a:srgbClr val="102A4C"/>
          </a:solidFill>
          <a:ln w="12700">
            <a:solidFill>
              <a:srgbClr val="FFCB45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70464" y="1399032"/>
            <a:ext cx="978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CB45"/>
                </a:solidFill>
              </a:rPr>
              <a:t>24%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579608" y="18013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8BED4"/>
                </a:solidFill>
              </a:rPr>
              <a:t>leaders already deploying agentic AI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172200" y="2770632"/>
            <a:ext cx="5166360" cy="2514600"/>
          </a:xfrm>
          <a:prstGeom prst="roundRect">
            <a:avLst>
              <a:gd name="adj" fmla="val 2909"/>
            </a:avLst>
          </a:prstGeom>
          <a:solidFill>
            <a:srgbClr val="0D2445"/>
          </a:solidFill>
          <a:ln w="6350">
            <a:solidFill>
              <a:srgbClr val="23476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306324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0" b="1" dirty="0">
                <a:solidFill>
                  <a:srgbClr val="18C7FF"/>
                </a:solidFill>
              </a:rPr>
              <a:t>WHERE INDIA IS PULLING TALENT</a:t>
            </a:r>
            <a:endParaRPr lang="en-US" sz="630" dirty="0"/>
          </a:p>
        </p:txBody>
      </p:sp>
      <p:sp>
        <p:nvSpPr>
          <p:cNvPr id="16" name="Text 13"/>
          <p:cNvSpPr/>
          <p:nvPr/>
        </p:nvSpPr>
        <p:spPr>
          <a:xfrm>
            <a:off x="6446520" y="3383280"/>
            <a:ext cx="443484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60" dirty="0">
                <a:solidFill>
                  <a:srgbClr val="F5FAFF"/>
                </a:solidFill>
              </a:rPr>
              <a:t>IT services modernizing old enterprise workflows</a:t>
            </a:r>
            <a:endParaRPr lang="en-US" sz="1060" dirty="0"/>
          </a:p>
          <a:p>
            <a:r>
              <a:rPr lang="en-US" sz="1060" dirty="0">
                <a:solidFill>
                  <a:srgbClr val="F5FAFF"/>
                </a:solidFill>
              </a:rPr>
              <a:t>BFSI: fraud, KYC, credit, customer service, risk</a:t>
            </a:r>
            <a:endParaRPr lang="en-US" sz="1060" dirty="0"/>
          </a:p>
          <a:p>
            <a:r>
              <a:rPr lang="en-US" sz="1060" dirty="0">
                <a:solidFill>
                  <a:srgbClr val="F5FAFF"/>
                </a:solidFill>
              </a:rPr>
              <a:t>Manufacturing: defect detection, predictive maintenance</a:t>
            </a:r>
            <a:endParaRPr lang="en-US" sz="1060" dirty="0"/>
          </a:p>
          <a:p>
            <a:r>
              <a:rPr lang="en-US" sz="1060" dirty="0">
                <a:solidFill>
                  <a:srgbClr val="F5FAFF"/>
                </a:solidFill>
              </a:rPr>
              <a:t>Healthcare: imaging, documentation, clinical operations</a:t>
            </a:r>
            <a:endParaRPr lang="en-US" sz="1060" dirty="0"/>
          </a:p>
          <a:p>
            <a:r>
              <a:rPr lang="en-US" sz="1060" dirty="0">
                <a:solidFill>
                  <a:srgbClr val="F5FAFF"/>
                </a:solidFill>
              </a:rPr>
              <a:t>Retail/e-commerce: recommendations, search, pricing, chatbots</a:t>
            </a:r>
            <a:endParaRPr lang="en-US" sz="1060" dirty="0"/>
          </a:p>
        </p:txBody>
      </p:sp>
      <p:sp>
        <p:nvSpPr>
          <p:cNvPr id="17" name="Text 14"/>
          <p:cNvSpPr/>
          <p:nvPr/>
        </p:nvSpPr>
        <p:spPr>
          <a:xfrm>
            <a:off x="6455664" y="498348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FAFF"/>
                </a:solidFill>
              </a:rPr>
              <a:t>AI job ≠ only “model scientist”. India needs builders who can integrate AI into messy enterprise systems.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Sources: EY-CII Outlook 2026 and ServiceNow India AI Skills &amp; Jobs Report.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jobs: a practical taxonomy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Not all AI jobs require the same depth of math, coding or cloud skills.</a:t>
            </a:r>
            <a:endParaRPr lang="en-US" sz="950" dirty="0"/>
          </a:p>
        </p:txBody>
      </p:sp>
      <p:pic>
        <p:nvPicPr>
          <p:cNvPr id="4" name="Image 0" descr="/mnt/data/a_wide_high_detail_isometric_futuristic_infograph.png"/>
          <p:cNvPicPr>
            <a:picLocks noChangeAspect="1"/>
          </p:cNvPicPr>
          <p:nvPr/>
        </p:nvPicPr>
        <p:blipFill>
          <a:blip r:embed="rId3"/>
          <a:srcRect l="16835" r="16835"/>
          <a:stretch/>
        </p:blipFill>
        <p:spPr>
          <a:xfrm>
            <a:off x="685800" y="1124712"/>
            <a:ext cx="6035040" cy="5120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86600" y="1216152"/>
            <a:ext cx="4434840" cy="530352"/>
          </a:xfrm>
          <a:prstGeom prst="roundRect">
            <a:avLst>
              <a:gd name="adj" fmla="val 13793"/>
            </a:avLst>
          </a:prstGeom>
          <a:solidFill>
            <a:srgbClr val="102A4C"/>
          </a:solidFill>
          <a:ln w="5080">
            <a:solidFill>
              <a:srgbClr val="23476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96912" y="133502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8C7FF"/>
                </a:solidFill>
              </a:rPr>
              <a:t>Data roles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15400" y="132588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ED4"/>
                </a:solidFill>
              </a:rPr>
              <a:t>Collect, clean, transform, analyze, visualize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086600" y="1965960"/>
            <a:ext cx="4434840" cy="530352"/>
          </a:xfrm>
          <a:prstGeom prst="roundRect">
            <a:avLst>
              <a:gd name="adj" fmla="val 13793"/>
            </a:avLst>
          </a:prstGeom>
          <a:solidFill>
            <a:srgbClr val="0D2445"/>
          </a:solidFill>
          <a:ln w="5080">
            <a:solidFill>
              <a:srgbClr val="23476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96912" y="208483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3D18B"/>
                </a:solidFill>
              </a:rPr>
              <a:t>ML roles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915400" y="207568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ED4"/>
                </a:solidFill>
              </a:rPr>
              <a:t>Train, evaluate, optimize, ship models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086600" y="2715768"/>
            <a:ext cx="4434840" cy="530352"/>
          </a:xfrm>
          <a:prstGeom prst="roundRect">
            <a:avLst>
              <a:gd name="adj" fmla="val 13793"/>
            </a:avLst>
          </a:prstGeom>
          <a:solidFill>
            <a:srgbClr val="102A4C"/>
          </a:solidFill>
          <a:ln w="5080">
            <a:solidFill>
              <a:srgbClr val="23476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96912" y="283464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CB45"/>
                </a:solidFill>
              </a:rPr>
              <a:t>GenAI roles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915400" y="282549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ED4"/>
                </a:solidFill>
              </a:rPr>
              <a:t>LLM apps, RAG, agents, evaluation, safety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086600" y="3465576"/>
            <a:ext cx="4434840" cy="530352"/>
          </a:xfrm>
          <a:prstGeom prst="roundRect">
            <a:avLst>
              <a:gd name="adj" fmla="val 13793"/>
            </a:avLst>
          </a:prstGeom>
          <a:solidFill>
            <a:srgbClr val="0D2445"/>
          </a:solidFill>
          <a:ln w="5080">
            <a:solidFill>
              <a:srgbClr val="23476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96912" y="358444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A86BFF"/>
                </a:solidFill>
              </a:rPr>
              <a:t>MLOps roles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915400" y="357530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ED4"/>
                </a:solidFill>
              </a:rPr>
              <a:t>Deployment, CI/CD, monitoring, scaling, cost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086600" y="4215384"/>
            <a:ext cx="4434840" cy="530352"/>
          </a:xfrm>
          <a:prstGeom prst="roundRect">
            <a:avLst>
              <a:gd name="adj" fmla="val 13793"/>
            </a:avLst>
          </a:prstGeom>
          <a:solidFill>
            <a:srgbClr val="102A4C"/>
          </a:solidFill>
          <a:ln w="5080">
            <a:solidFill>
              <a:srgbClr val="23476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96912" y="433425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5BC8"/>
                </a:solidFill>
              </a:rPr>
              <a:t>Domain AI roles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915400" y="43251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ED4"/>
                </a:solidFill>
              </a:rPr>
              <a:t>CV, NLP, speech, robotics, recommender systems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86600" y="4965192"/>
            <a:ext cx="4434840" cy="530352"/>
          </a:xfrm>
          <a:prstGeom prst="roundRect">
            <a:avLst>
              <a:gd name="adj" fmla="val 13793"/>
            </a:avLst>
          </a:prstGeom>
          <a:solidFill>
            <a:srgbClr val="0D2445"/>
          </a:solidFill>
          <a:ln w="5080">
            <a:solidFill>
              <a:srgbClr val="23476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96912" y="5084064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9E42"/>
                </a:solidFill>
              </a:rPr>
              <a:t>Governance roles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915400" y="507492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ED4"/>
                </a:solidFill>
              </a:rPr>
              <a:t>AI risk, compliance, validation, audit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Role taxonomy synthesized from current job categories and report signals; salary details later in deck.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 family 1: Data &amp; analytics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This is still the biggest gateway into AI for freshers. Do not ignore it.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1920240" cy="603504"/>
          </a:xfrm>
          <a:prstGeom prst="rect">
            <a:avLst/>
          </a:prstGeom>
          <a:solidFill>
            <a:srgbClr val="123359"/>
          </a:solidFill>
          <a:ln w="3810">
            <a:solidFill>
              <a:srgbClr val="254B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1298448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Role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1234440"/>
            <a:ext cx="3931920" cy="603504"/>
          </a:xfrm>
          <a:prstGeom prst="rect">
            <a:avLst/>
          </a:prstGeom>
          <a:solidFill>
            <a:srgbClr val="123359"/>
          </a:solidFill>
          <a:ln w="3810">
            <a:solidFill>
              <a:srgbClr val="254B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60904" y="1298448"/>
            <a:ext cx="3822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Core skills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37960" y="1234440"/>
            <a:ext cx="4800600" cy="603504"/>
          </a:xfrm>
          <a:prstGeom prst="rect">
            <a:avLst/>
          </a:prstGeom>
          <a:solidFill>
            <a:srgbClr val="123359"/>
          </a:solidFill>
          <a:ln w="3810">
            <a:solidFill>
              <a:srgbClr val="254B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92824" y="1298448"/>
            <a:ext cx="4690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What you deliver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1837944"/>
            <a:ext cx="1920240" cy="603504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" y="1892808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Data Analyst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06040" y="1837944"/>
            <a:ext cx="3931920" cy="603504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60904" y="1892808"/>
            <a:ext cx="3822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SQL, Excel/BI, Python, statistics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37960" y="1837944"/>
            <a:ext cx="4800600" cy="603504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2824" y="1892808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Dashboards, reports, business insights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2441448"/>
            <a:ext cx="1920240" cy="603504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" y="2496312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BI Analyst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06040" y="2441448"/>
            <a:ext cx="3931920" cy="603504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60904" y="2496312"/>
            <a:ext cx="3822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Power BI/Tableau, data modeling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37960" y="2441448"/>
            <a:ext cx="4800600" cy="603504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92824" y="2496312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Decision dashboards and KPI tracking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" y="3044952"/>
            <a:ext cx="1920240" cy="603504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" y="3099816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Junior Data Engineer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606040" y="3044952"/>
            <a:ext cx="3931920" cy="603504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60904" y="3099816"/>
            <a:ext cx="3822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SQL, Python, Spark basics, pipelines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37960" y="3044952"/>
            <a:ext cx="4800600" cy="603504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92824" y="3099816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Clean, reliable data for models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3648456"/>
            <a:ext cx="1920240" cy="603504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" y="3703320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Data Scientist Trainee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606040" y="3648456"/>
            <a:ext cx="3931920" cy="603504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60904" y="3703320"/>
            <a:ext cx="3822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Stats, ML basics, notebooks, storytelling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37960" y="3648456"/>
            <a:ext cx="4800600" cy="603504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92824" y="3703320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Experiments, analysis, baseline models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5800" y="4251960"/>
            <a:ext cx="1920240" cy="603504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0664" y="4306824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Data Ops / Annotation QC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606040" y="4251960"/>
            <a:ext cx="3931920" cy="603504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60904" y="4306824"/>
            <a:ext cx="3822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Label quality, guidelines, QA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537960" y="4251960"/>
            <a:ext cx="4800600" cy="603504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92824" y="4306824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Training data quality for CV/NLP/LLM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68680" y="5166360"/>
            <a:ext cx="10332720" cy="621792"/>
          </a:xfrm>
          <a:prstGeom prst="roundRect">
            <a:avLst>
              <a:gd name="adj" fmla="val 8824"/>
            </a:avLst>
          </a:prstGeom>
          <a:solidFill>
            <a:srgbClr val="061A31"/>
          </a:solidFill>
          <a:ln w="12700">
            <a:solidFill>
              <a:srgbClr val="18C7FF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9848" y="5376672"/>
            <a:ext cx="989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AFF"/>
                </a:solidFill>
              </a:rPr>
              <a:t>Beginner advice: SQL + Python + dashboard + one ML project can beat “10 certificates” with no usable project.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Salary benchmarks use Indeed India salary pages and current entry-level market observations.</a:t>
            </a:r>
            <a:endParaRPr lang="en-US" sz="58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 family 2: ML / AI engineering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This is the classic “build models that work in production” path.</a:t>
            </a:r>
            <a:endParaRPr lang="en-US" sz="950" dirty="0"/>
          </a:p>
        </p:txBody>
      </p:sp>
      <p:pic>
        <p:nvPicPr>
          <p:cNvPr id="4" name="Image 0" descr="/mnt/data/a_high_tech_industrial_industrial_automation_scene.png"/>
          <p:cNvPicPr>
            <a:picLocks noChangeAspect="1"/>
          </p:cNvPicPr>
          <p:nvPr/>
        </p:nvPicPr>
        <p:blipFill>
          <a:blip r:embed="rId3"/>
          <a:srcRect l="16049" r="16049"/>
          <a:stretch/>
        </p:blipFill>
        <p:spPr>
          <a:xfrm>
            <a:off x="6446520" y="1143000"/>
            <a:ext cx="507492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23444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8C7FF"/>
                </a:solidFill>
              </a:rPr>
              <a:t>ML Engineer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383280" y="12344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BED4"/>
                </a:solidFill>
              </a:rPr>
              <a:t>Model training + inference code + APIs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" y="192024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3D18B"/>
                </a:solidFill>
              </a:rPr>
              <a:t>AI/ML Engineer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383280" y="1920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ED4"/>
                </a:solidFill>
              </a:rPr>
              <a:t>Classical ML + DL + deployment basics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60604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CB45"/>
                </a:solidFill>
              </a:rPr>
              <a:t>Computer Vision Engineer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383280" y="26060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BED4"/>
                </a:solidFill>
              </a:rPr>
              <a:t>CNN/ViT, image pipelines, augmentation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329184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86BFF"/>
                </a:solidFill>
              </a:rPr>
              <a:t>NLP Engineer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83280" y="32918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ED4"/>
                </a:solidFill>
              </a:rPr>
              <a:t>Text classification, embeddings, transformers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397764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9E42"/>
                </a:solidFill>
              </a:rPr>
              <a:t>Recommender Systems Engineer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383280" y="39776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ED4"/>
                </a:solidFill>
              </a:rPr>
              <a:t>Ranking, retrieval, evaluation metrics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1520" y="5074920"/>
            <a:ext cx="5166360" cy="685800"/>
          </a:xfrm>
          <a:prstGeom prst="roundRect">
            <a:avLst>
              <a:gd name="adj" fmla="val 8000"/>
            </a:avLst>
          </a:prstGeom>
          <a:solidFill>
            <a:srgbClr val="0D2445"/>
          </a:solidFill>
          <a:ln w="12700">
            <a:solidFill>
              <a:srgbClr val="FF5B5B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528523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5FAFF"/>
                </a:solidFill>
              </a:rPr>
              <a:t>Warning: a model that only runs in a notebook is not an ML engineering project. Add API, Docker, tests, monitoring and a README.</a:t>
            </a:r>
            <a:endParaRPr lang="en-US" sz="980" dirty="0"/>
          </a:p>
        </p:txBody>
      </p:sp>
      <p:sp>
        <p:nvSpPr>
          <p:cNvPr id="17" name="Text 14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Salary benchmarks use Indeed India salary pages; production expectations aligned with MLOps practices.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 family 3: GenAI / LLM roles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These roles are hot, but they punish shallow knowledge. You need evaluation and system design.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2468880" cy="585216"/>
          </a:xfrm>
          <a:prstGeom prst="rect">
            <a:avLst/>
          </a:prstGeom>
          <a:solidFill>
            <a:srgbClr val="123359"/>
          </a:solidFill>
          <a:ln w="3810">
            <a:solidFill>
              <a:srgbClr val="254B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298448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FAFF"/>
                </a:solidFill>
              </a:rPr>
              <a:t>Role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0" y="1234440"/>
            <a:ext cx="8046720" cy="585216"/>
          </a:xfrm>
          <a:prstGeom prst="rect">
            <a:avLst/>
          </a:prstGeom>
          <a:solidFill>
            <a:srgbClr val="123359"/>
          </a:solidFill>
          <a:ln w="3810">
            <a:solidFill>
              <a:srgbClr val="254B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55264" y="1298448"/>
            <a:ext cx="7936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FAFF"/>
                </a:solidFill>
              </a:rPr>
              <a:t>Skills you must show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819656"/>
            <a:ext cx="2468880" cy="585216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874520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FAFF"/>
                </a:solidFill>
              </a:rPr>
              <a:t>LLM App Developer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819656"/>
            <a:ext cx="8046720" cy="585216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5264" y="1874520"/>
            <a:ext cx="7936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ED4"/>
                </a:solidFill>
              </a:rPr>
              <a:t>RAG, APIs, vector DBs, prompt templates, caching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404872"/>
            <a:ext cx="2468880" cy="585216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459736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FAFF"/>
                </a:solidFill>
              </a:rPr>
              <a:t>GenAI Engineer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2404872"/>
            <a:ext cx="8046720" cy="585216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2459736"/>
            <a:ext cx="7936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ED4"/>
                </a:solidFill>
              </a:rPr>
              <a:t>LLM orchestration, tools, agents, observability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2990088"/>
            <a:ext cx="2468880" cy="585216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044952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FAFF"/>
                </a:solidFill>
              </a:rPr>
              <a:t>Prompt Engineer / AI Content Analyst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0" y="2990088"/>
            <a:ext cx="8046720" cy="585216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55264" y="3044952"/>
            <a:ext cx="7936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ED4"/>
                </a:solidFill>
              </a:rPr>
              <a:t>Prompt design, testing, domain knowledge, QA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575304"/>
            <a:ext cx="2468880" cy="585216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3630168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FAFF"/>
                </a:solidFill>
              </a:rPr>
              <a:t>AI Evaluation Engineer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3575304"/>
            <a:ext cx="8046720" cy="585216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55264" y="3630168"/>
            <a:ext cx="7936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ED4"/>
                </a:solidFill>
              </a:rPr>
              <a:t>Golden datasets, hallucination checks, metrics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4160520"/>
            <a:ext cx="2468880" cy="585216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4215384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FAFF"/>
                </a:solidFill>
              </a:rPr>
              <a:t>LLM Safety / Red Team Analyst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0" y="4160520"/>
            <a:ext cx="8046720" cy="585216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55264" y="4215384"/>
            <a:ext cx="7936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ED4"/>
                </a:solidFill>
              </a:rPr>
              <a:t>Failure modes, policy testing, adversarial prompts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" y="4983480"/>
            <a:ext cx="10149840" cy="731520"/>
          </a:xfrm>
          <a:prstGeom prst="roundRect">
            <a:avLst>
              <a:gd name="adj" fmla="val 7500"/>
            </a:avLst>
          </a:prstGeom>
          <a:solidFill>
            <a:srgbClr val="061A31"/>
          </a:solidFill>
          <a:ln w="12700">
            <a:solidFill>
              <a:srgbClr val="FFCB45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5257800"/>
            <a:ext cx="9646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5FAFF"/>
                </a:solidFill>
              </a:rPr>
              <a:t>Good fresher GenAI project = RAG app + evaluation dataset + latency/cost measurement + deployment. A chatbot screenshot alone is weak.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GenAI role framing based on PwC AI jobs signals and EY-CII adoption report.</a:t>
            </a:r>
            <a:endParaRPr lang="en-US" sz="58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 family 4: MLOps, cloud &amp; AI platform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This is where model demos become production services. Strong salary path if you can build reliably.</a:t>
            </a:r>
            <a:endParaRPr lang="en-US" sz="950" dirty="0"/>
          </a:p>
        </p:txBody>
      </p:sp>
      <p:pic>
        <p:nvPicPr>
          <p:cNvPr id="4" name="Image 0" descr="/mnt/data/a_clean_futuristic_isometric_3d_vector_illustrati.png"/>
          <p:cNvPicPr>
            <a:picLocks noChangeAspect="1"/>
          </p:cNvPicPr>
          <p:nvPr/>
        </p:nvPicPr>
        <p:blipFill>
          <a:blip r:embed="rId3"/>
          <a:srcRect l="16584" r="16584"/>
          <a:stretch/>
        </p:blipFill>
        <p:spPr>
          <a:xfrm>
            <a:off x="658368" y="1051560"/>
            <a:ext cx="521208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55080" y="1234440"/>
            <a:ext cx="2057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8C7FF"/>
                </a:solidFill>
              </a:rPr>
              <a:t>MLOps Engineer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430768" y="123444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ED4"/>
                </a:solidFill>
              </a:rPr>
              <a:t>Docker, CI/CD, MLflow/DVC, monitoring, Kubernetes basics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355080" y="1947672"/>
            <a:ext cx="2057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3D18B"/>
                </a:solidFill>
              </a:rPr>
              <a:t>AI Platform Engineer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30768" y="194767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ED4"/>
                </a:solidFill>
              </a:rPr>
              <a:t>GPU serving, model registry, gateways, observability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355080" y="2660904"/>
            <a:ext cx="2057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CB45"/>
                </a:solidFill>
              </a:rPr>
              <a:t>Cloud AI Engineer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30768" y="266090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ED4"/>
                </a:solidFill>
              </a:rPr>
              <a:t>AWS/Azure/GCP, APIs, serverless, networking basics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355080" y="3374136"/>
            <a:ext cx="2057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A86BFF"/>
                </a:solidFill>
              </a:rPr>
              <a:t>ML Backend Engineer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30768" y="337413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ED4"/>
                </a:solidFill>
              </a:rPr>
              <a:t>FastAPI, async APIs, queues, databases, auth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355080" y="4087368"/>
            <a:ext cx="2057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5BC8"/>
                </a:solidFill>
              </a:rPr>
              <a:t>Model Monitoring Analyst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430768" y="408736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ED4"/>
                </a:solidFill>
              </a:rPr>
              <a:t>Drift, latency, errors, data quality, dashboards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00800" y="5166360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FAFF"/>
                </a:solidFill>
              </a:rPr>
              <a:t>For your hands-on deployment session, this slide is the career bridge: model → API → container → cloud/K8s → monitoring.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MLOps definition and practices aligned with cloud/MLOps references and current AI platform hiring patterns.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 family 5: domain AI specialists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Domain depth matters: vision, speech, robotics and healthcare are not “generic ML”.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2423160" cy="566928"/>
          </a:xfrm>
          <a:prstGeom prst="rect">
            <a:avLst/>
          </a:prstGeom>
          <a:solidFill>
            <a:srgbClr val="123359"/>
          </a:solidFill>
          <a:ln w="3810">
            <a:solidFill>
              <a:srgbClr val="254B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1252728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Track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08960" y="1188720"/>
            <a:ext cx="8046720" cy="566928"/>
          </a:xfrm>
          <a:prstGeom prst="rect">
            <a:avLst/>
          </a:prstGeom>
          <a:solidFill>
            <a:srgbClr val="123359"/>
          </a:solidFill>
          <a:ln w="3810">
            <a:solidFill>
              <a:srgbClr val="254B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63824" y="1252728"/>
            <a:ext cx="7936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Where it is used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1755648"/>
            <a:ext cx="2423160" cy="566928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1810512"/>
            <a:ext cx="2313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Computer Vision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08960" y="1755648"/>
            <a:ext cx="8046720" cy="566928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63824" y="1810512"/>
            <a:ext cx="7936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Defect detection, OCR, medical imaging, surveillance, retail shelf analytics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322576"/>
            <a:ext cx="2423160" cy="566928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" y="2377440"/>
            <a:ext cx="2313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NLP / Speech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08960" y="2322576"/>
            <a:ext cx="8046720" cy="566928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63824" y="2377440"/>
            <a:ext cx="7936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Indic language apps, ASR/STT, summarization, search, customer support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2889504"/>
            <a:ext cx="2423160" cy="566928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" y="2944368"/>
            <a:ext cx="2313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Robotics / Edge AI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108960" y="2889504"/>
            <a:ext cx="8046720" cy="566928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63824" y="2944368"/>
            <a:ext cx="7936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Drones, robots, embedded vision, low-latency inference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3456432"/>
            <a:ext cx="2423160" cy="566928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3511296"/>
            <a:ext cx="2313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Recommender Systems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108960" y="3456432"/>
            <a:ext cx="8046720" cy="566928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63824" y="3511296"/>
            <a:ext cx="7936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E-commerce ranking, ads, feeds, personalization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" y="4023360"/>
            <a:ext cx="2423160" cy="566928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" y="4078224"/>
            <a:ext cx="2313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AI in Cybersecurity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108960" y="4023360"/>
            <a:ext cx="8046720" cy="566928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63824" y="4078224"/>
            <a:ext cx="7936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Anomaly detection, phishing detection, SOC automation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4590288"/>
            <a:ext cx="2423160" cy="566928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" y="4645152"/>
            <a:ext cx="2313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AI in Healthcare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108960" y="4590288"/>
            <a:ext cx="8046720" cy="566928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63824" y="4645152"/>
            <a:ext cx="7936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Clinical workflow, imaging, triage, documentation support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Sector examples mapped from India enterprise AI adoption themes and common applied AI job categories.</a:t>
            </a:r>
            <a:endParaRPr lang="en-US" sz="58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 family 6: governance, validation &amp; AI quality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This area will grow because companies are scared of wrong, biased or unsafe AI outputs.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2331720" cy="987552"/>
          </a:xfrm>
          <a:prstGeom prst="roundRect">
            <a:avLst>
              <a:gd name="adj" fmla="val 8333"/>
            </a:avLst>
          </a:prstGeom>
          <a:solidFill>
            <a:srgbClr val="102A4C"/>
          </a:solidFill>
          <a:ln w="12700">
            <a:solidFill>
              <a:srgbClr val="FF5B5B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5256" y="1399032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5B5B"/>
                </a:solidFill>
              </a:rPr>
              <a:t>Risk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8013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8BED4"/>
                </a:solidFill>
              </a:rPr>
              <a:t>Bias, privacy, hallucination, leakage, unsafe actions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429000" y="1234440"/>
            <a:ext cx="2331720" cy="987552"/>
          </a:xfrm>
          <a:prstGeom prst="roundRect">
            <a:avLst>
              <a:gd name="adj" fmla="val 8333"/>
            </a:avLst>
          </a:prstGeom>
          <a:solidFill>
            <a:srgbClr val="102A4C"/>
          </a:solidFill>
          <a:ln w="12700">
            <a:solidFill>
              <a:srgbClr val="FFCB45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57016" y="1399032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CB45"/>
                </a:solidFill>
              </a:rPr>
              <a:t>Quality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66160" y="180136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8BED4"/>
                </a:solidFill>
              </a:rPr>
              <a:t>Evaluation datasets, unit tests, regression checks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80760" y="1234440"/>
            <a:ext cx="2240280" cy="987552"/>
          </a:xfrm>
          <a:prstGeom prst="roundRect">
            <a:avLst>
              <a:gd name="adj" fmla="val 8333"/>
            </a:avLst>
          </a:prstGeom>
          <a:solidFill>
            <a:srgbClr val="102A4C"/>
          </a:solidFill>
          <a:ln w="12700">
            <a:solidFill>
              <a:srgbClr val="18C7FF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8776" y="1399032"/>
            <a:ext cx="1984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8C7FF"/>
                </a:solidFill>
              </a:rPr>
              <a:t>Control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17920" y="18013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8BED4"/>
                </a:solidFill>
              </a:rPr>
              <a:t>Approvals, audit trails, model cards, policies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641080" y="1234440"/>
            <a:ext cx="2423160" cy="987552"/>
          </a:xfrm>
          <a:prstGeom prst="roundRect">
            <a:avLst>
              <a:gd name="adj" fmla="val 8333"/>
            </a:avLst>
          </a:prstGeom>
          <a:solidFill>
            <a:srgbClr val="102A4C"/>
          </a:solidFill>
          <a:ln w="12700">
            <a:solidFill>
              <a:srgbClr val="23D18B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69096" y="1399032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3D18B"/>
                </a:solidFill>
              </a:rPr>
              <a:t>Explain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778240" y="18013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A8BED4"/>
                </a:solidFill>
              </a:rPr>
              <a:t>Reports that business, legal and users can understand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60120" y="3063240"/>
            <a:ext cx="3017520" cy="603504"/>
          </a:xfrm>
          <a:prstGeom prst="rect">
            <a:avLst/>
          </a:prstGeom>
          <a:solidFill>
            <a:srgbClr val="123359"/>
          </a:solidFill>
          <a:ln w="3810">
            <a:solidFill>
              <a:srgbClr val="254B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984" y="3127248"/>
            <a:ext cx="2907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FAFF"/>
                </a:solidFill>
              </a:rPr>
              <a:t>Entry role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77640" y="3063240"/>
            <a:ext cx="6675120" cy="603504"/>
          </a:xfrm>
          <a:prstGeom prst="rect">
            <a:avLst/>
          </a:prstGeom>
          <a:solidFill>
            <a:srgbClr val="123359"/>
          </a:solidFill>
          <a:ln w="3810">
            <a:solidFill>
              <a:srgbClr val="254B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32504" y="3127248"/>
            <a:ext cx="65653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FAFF"/>
                </a:solidFill>
              </a:rPr>
              <a:t>What you do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0120" y="3666744"/>
            <a:ext cx="3017520" cy="603504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" y="3721608"/>
            <a:ext cx="2907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FAFF"/>
                </a:solidFill>
              </a:rPr>
              <a:t>AI QA Tester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77640" y="3666744"/>
            <a:ext cx="6675120" cy="603504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32504" y="3721608"/>
            <a:ext cx="6565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8BED4"/>
                </a:solidFill>
              </a:rPr>
              <a:t>Test prompts/models/APIs under expected and edge cases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0120" y="4270248"/>
            <a:ext cx="3017520" cy="603504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4984" y="4325112"/>
            <a:ext cx="2907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FAFF"/>
                </a:solidFill>
              </a:rPr>
              <a:t>Model Validation Analyst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77640" y="4270248"/>
            <a:ext cx="6675120" cy="603504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32504" y="4325112"/>
            <a:ext cx="6565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8BED4"/>
                </a:solidFill>
              </a:rPr>
              <a:t>Validate performance, drift, fairness, robustness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0120" y="4873752"/>
            <a:ext cx="3017520" cy="603504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4984" y="4928616"/>
            <a:ext cx="2907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FAFF"/>
                </a:solidFill>
              </a:rPr>
              <a:t>Responsible AI Analyst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977640" y="4873752"/>
            <a:ext cx="6675120" cy="603504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32504" y="4928616"/>
            <a:ext cx="6565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8BED4"/>
                </a:solidFill>
              </a:rPr>
              <a:t>Governance, explainability, policy checks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" y="5477256"/>
            <a:ext cx="3017520" cy="603504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4984" y="5532120"/>
            <a:ext cx="2907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FAFF"/>
                </a:solidFill>
              </a:rPr>
              <a:t>Data Privacy / AI Compliance Associate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977640" y="5477256"/>
            <a:ext cx="6675120" cy="603504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32504" y="5532120"/>
            <a:ext cx="6565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8BED4"/>
                </a:solidFill>
              </a:rPr>
              <a:t>Consent, data retention, audit documentation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Governance trend supported by PwC/WFE skill shifts and India AI policy discussions.</a:t>
            </a:r>
            <a:endParaRPr lang="en-US" sz="58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Fresher salary bands in India: realistic 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These are broad 0–2 year ranges. They vary heavily by city, company, college, projects and interview strength.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2971800" cy="530352"/>
          </a:xfrm>
          <a:prstGeom prst="rect">
            <a:avLst/>
          </a:prstGeom>
          <a:solidFill>
            <a:srgbClr val="123359"/>
          </a:solidFill>
          <a:ln w="3810">
            <a:solidFill>
              <a:srgbClr val="254B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34440"/>
            <a:ext cx="2862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Fresher role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66160" y="1170432"/>
            <a:ext cx="1965960" cy="530352"/>
          </a:xfrm>
          <a:prstGeom prst="rect">
            <a:avLst/>
          </a:prstGeom>
          <a:solidFill>
            <a:srgbClr val="123359"/>
          </a:solidFill>
          <a:ln w="3810">
            <a:solidFill>
              <a:srgbClr val="254B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21024" y="123444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Typical fresher range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32120" y="1170432"/>
            <a:ext cx="5349240" cy="530352"/>
          </a:xfrm>
          <a:prstGeom prst="rect">
            <a:avLst/>
          </a:prstGeom>
          <a:solidFill>
            <a:srgbClr val="123359"/>
          </a:solidFill>
          <a:ln w="3810">
            <a:solidFill>
              <a:srgbClr val="254B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86984" y="1234440"/>
            <a:ext cx="5239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Reality check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1700784"/>
            <a:ext cx="297180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1755648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Data Analyst / BI Analyst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66160" y="1700784"/>
            <a:ext cx="196596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21024" y="1755648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₹7–10 LPA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32120" y="1700784"/>
            <a:ext cx="534924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86984" y="1755648"/>
            <a:ext cx="5239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High volume; SQL + BI + Python helps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2231136"/>
            <a:ext cx="2971800" cy="53035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286000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Junior Data Engineer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66160" y="2231136"/>
            <a:ext cx="1965960" cy="53035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21024" y="2286000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₹6–8 LPA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32120" y="2231136"/>
            <a:ext cx="5349240" cy="53035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86984" y="2286000"/>
            <a:ext cx="5239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Pipelines and SQL are valuable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2761488"/>
            <a:ext cx="297180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2816352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Junior Data Scientist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566160" y="2761488"/>
            <a:ext cx="196596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21024" y="2816352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₹8–12 LPA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532120" y="2761488"/>
            <a:ext cx="534924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86984" y="2816352"/>
            <a:ext cx="5239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Mostly analytics + baseline ML initially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" y="3291840"/>
            <a:ext cx="2971800" cy="53035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" y="3346704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AI/ML Engineer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566160" y="3291840"/>
            <a:ext cx="1965960" cy="53035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21024" y="3346704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₹8–15 LPA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532120" y="3291840"/>
            <a:ext cx="5349240" cy="53035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86984" y="3346704"/>
            <a:ext cx="5239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Indeed avg AI/ML engineer ~₹7.5 LPA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94360" y="3822192"/>
            <a:ext cx="297180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" y="3877056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Machine Learning Engineer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566160" y="3822192"/>
            <a:ext cx="196596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21024" y="3877056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₹7–12 LPA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532120" y="3822192"/>
            <a:ext cx="534924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86984" y="3877056"/>
            <a:ext cx="5239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Indeed avg ML engineer ~₹11.6 LPA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94360" y="4352544"/>
            <a:ext cx="2971800" cy="53035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" y="4407408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AI Developer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566160" y="4352544"/>
            <a:ext cx="1965960" cy="53035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21024" y="4407408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₹7–11 LPA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532120" y="4352544"/>
            <a:ext cx="5349240" cy="53035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86984" y="4407408"/>
            <a:ext cx="5239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Indeed avg AI developer ~₹10.4 LPA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94360" y="4882896"/>
            <a:ext cx="297180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" y="4937760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MLOps Engineer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566160" y="4882896"/>
            <a:ext cx="196596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21024" y="4937760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₹8–12 LPA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532120" y="4882896"/>
            <a:ext cx="534924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86984" y="4937760"/>
            <a:ext cx="5239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Smaller pool; strong Docker/API/cloud needed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Salary ranges synthesized from Indeed India salary pages updated Jun–Jul 2026 and public entry-level salary references.</a:t>
            </a:r>
            <a:endParaRPr lang="en-US" sz="58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Fresher salary bands: specialist and emerging roles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Higher pay exists, but it usually demands proof: deployed project, internship, research or strong coding.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2971800" cy="530352"/>
          </a:xfrm>
          <a:prstGeom prst="rect">
            <a:avLst/>
          </a:prstGeom>
          <a:solidFill>
            <a:srgbClr val="123359"/>
          </a:solidFill>
          <a:ln w="3810">
            <a:solidFill>
              <a:srgbClr val="254B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34440"/>
            <a:ext cx="2862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Fresher role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66160" y="1170432"/>
            <a:ext cx="1965960" cy="530352"/>
          </a:xfrm>
          <a:prstGeom prst="rect">
            <a:avLst/>
          </a:prstGeom>
          <a:solidFill>
            <a:srgbClr val="123359"/>
          </a:solidFill>
          <a:ln w="3810">
            <a:solidFill>
              <a:srgbClr val="254B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21024" y="123444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Typical fresher range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32120" y="1170432"/>
            <a:ext cx="5349240" cy="530352"/>
          </a:xfrm>
          <a:prstGeom prst="rect">
            <a:avLst/>
          </a:prstGeom>
          <a:solidFill>
            <a:srgbClr val="123359"/>
          </a:solidFill>
          <a:ln w="3810">
            <a:solidFill>
              <a:srgbClr val="254B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86984" y="1234440"/>
            <a:ext cx="5239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Notes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1700784"/>
            <a:ext cx="297180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1755648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GenAI / LLM Engineer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66160" y="1700784"/>
            <a:ext cx="196596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21024" y="1755648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₹6–15 LPA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32120" y="1700784"/>
            <a:ext cx="534924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86984" y="1755648"/>
            <a:ext cx="5239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RAG + evaluation + deployment required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2231136"/>
            <a:ext cx="2971800" cy="53035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286000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Prompt Engineer / AI Content Analyst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66160" y="2231136"/>
            <a:ext cx="1965960" cy="53035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21024" y="2286000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₹3–8 LPA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32120" y="2231136"/>
            <a:ext cx="5349240" cy="53035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86984" y="2286000"/>
            <a:ext cx="5239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Domain + QA; coding may be lighter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2761488"/>
            <a:ext cx="297180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2816352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Computer Vision Engineer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566160" y="2761488"/>
            <a:ext cx="196596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21024" y="2816352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₹7–12 LPA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532120" y="2761488"/>
            <a:ext cx="534924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86984" y="2816352"/>
            <a:ext cx="5239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Image model + deployment portfolio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" y="3291840"/>
            <a:ext cx="2971800" cy="53035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" y="3346704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NLP / Speech Engineer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566160" y="3291840"/>
            <a:ext cx="1965960" cy="53035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21024" y="3346704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₹7–12 LPA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532120" y="3291840"/>
            <a:ext cx="5349240" cy="53035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86984" y="3346704"/>
            <a:ext cx="5239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Text/audio datasets, metrics, APIs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94360" y="3822192"/>
            <a:ext cx="297180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" y="3877056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AI QA / Eval Engineer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566160" y="3822192"/>
            <a:ext cx="196596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21024" y="3877056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₹6–9 LPA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532120" y="3822192"/>
            <a:ext cx="534924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86984" y="3877056"/>
            <a:ext cx="5239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Testing mindset + metrics + automation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94360" y="4352544"/>
            <a:ext cx="2971800" cy="53035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" y="4407408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Responsible AI / Governance Analyst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566160" y="4352544"/>
            <a:ext cx="1965960" cy="53035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21024" y="4407408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₹8–12 LPA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532120" y="4352544"/>
            <a:ext cx="5349240" cy="53035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86984" y="4407408"/>
            <a:ext cx="5239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Risk, policy, documentation + technical basics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94360" y="4882896"/>
            <a:ext cx="297180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" y="4937760"/>
            <a:ext cx="2862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Applied Scientist / Research Assistant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566160" y="4882896"/>
            <a:ext cx="196596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21024" y="4937760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₹8–15+ LPA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532120" y="4882896"/>
            <a:ext cx="534924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86984" y="4937760"/>
            <a:ext cx="5239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Rare for B.E.; stronger for M.Tech/research profiles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Salary ranges are estimates using current salary portals and market signals; use as guidance, not guarantee.</a:t>
            </a:r>
            <a:endParaRPr lang="en-US" sz="58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Salary is not one number: company type changes everything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A weak fresher should not expect product-company salary just because the title says AI.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14400" y="139903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Mass IT fresher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127248" y="1417320"/>
            <a:ext cx="3200400" cy="1463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27248" y="1417320"/>
            <a:ext cx="746760" cy="146304"/>
          </a:xfrm>
          <a:prstGeom prst="rect">
            <a:avLst/>
          </a:prstGeom>
          <a:solidFill>
            <a:srgbClr val="5D7896"/>
          </a:solidFill>
          <a:ln w="12700">
            <a:solidFill>
              <a:srgbClr val="5D7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138988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AFF"/>
                </a:solidFill>
              </a:rPr>
              <a:t>₹3.5–7 LPA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1226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Specialist digital/AI track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27248" y="2130552"/>
            <a:ext cx="3200400" cy="1463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27248" y="2130552"/>
            <a:ext cx="1280160" cy="146304"/>
          </a:xfrm>
          <a:prstGeom prst="rect">
            <a:avLst/>
          </a:prstGeom>
          <a:solidFill>
            <a:srgbClr val="18C7FF"/>
          </a:solidFill>
          <a:ln w="12700">
            <a:solidFill>
              <a:srgbClr val="18C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210312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AFF"/>
                </a:solidFill>
              </a:rPr>
              <a:t>₹6–12 LPA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82549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Startup/Product fresher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27248" y="2843784"/>
            <a:ext cx="3200400" cy="1463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27248" y="2843784"/>
            <a:ext cx="1920240" cy="146304"/>
          </a:xfrm>
          <a:prstGeom prst="rect">
            <a:avLst/>
          </a:prstGeom>
          <a:solidFill>
            <a:srgbClr val="23D18B"/>
          </a:solidFill>
          <a:ln w="12700">
            <a:solidFill>
              <a:srgbClr val="23D1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8163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AFF"/>
                </a:solidFill>
              </a:rPr>
              <a:t>₹8–18 LPA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53872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Research lab / top college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127248" y="3557016"/>
            <a:ext cx="3200400" cy="1463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27248" y="3557016"/>
            <a:ext cx="2667000" cy="146304"/>
          </a:xfrm>
          <a:prstGeom prst="rect">
            <a:avLst/>
          </a:prstGeom>
          <a:solidFill>
            <a:srgbClr val="FFCB45"/>
          </a:solidFill>
          <a:ln w="12700">
            <a:solidFill>
              <a:srgbClr val="FFCB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39" y="3483864"/>
            <a:ext cx="78062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5FAFF"/>
                </a:solidFill>
              </a:rPr>
              <a:t>₹10–25+ LPA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425196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Global remote / exceptional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127248" y="4270248"/>
            <a:ext cx="3200400" cy="1463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27248" y="4270248"/>
            <a:ext cx="3200400" cy="146304"/>
          </a:xfrm>
          <a:prstGeom prst="rect">
            <a:avLst/>
          </a:prstGeom>
          <a:solidFill>
            <a:srgbClr val="A86BFF"/>
          </a:solidFill>
          <a:ln w="12700">
            <a:solidFill>
              <a:srgbClr val="A86B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4242816"/>
            <a:ext cx="78062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5FAFF"/>
                </a:solidFill>
              </a:rPr>
              <a:t>₹12–30+ LPA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06640" y="1325880"/>
            <a:ext cx="3611880" cy="3520440"/>
          </a:xfrm>
          <a:prstGeom prst="roundRect">
            <a:avLst>
              <a:gd name="adj" fmla="val 2078"/>
            </a:avLst>
          </a:prstGeom>
          <a:solidFill>
            <a:srgbClr val="0D2445"/>
          </a:solidFill>
          <a:ln w="12700">
            <a:solidFill>
              <a:srgbClr val="18C7FF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9248" y="1627632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0" b="1" dirty="0">
                <a:solidFill>
                  <a:srgbClr val="18C7FF"/>
                </a:solidFill>
              </a:rPr>
              <a:t>WHAT PUSHES YOU UPWARD</a:t>
            </a:r>
            <a:endParaRPr lang="en-US" sz="630" dirty="0"/>
          </a:p>
        </p:txBody>
      </p:sp>
      <p:sp>
        <p:nvSpPr>
          <p:cNvPr id="26" name="Text 24"/>
          <p:cNvSpPr/>
          <p:nvPr/>
        </p:nvSpPr>
        <p:spPr>
          <a:xfrm>
            <a:off x="7699248" y="1993392"/>
            <a:ext cx="292608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00" dirty="0">
                <a:solidFill>
                  <a:srgbClr val="F5FAFF"/>
                </a:solidFill>
              </a:rPr>
              <a:t>Internship or deployed project</a:t>
            </a:r>
            <a:endParaRPr lang="en-US" sz="1200" dirty="0"/>
          </a:p>
          <a:p>
            <a:r>
              <a:rPr lang="en-US" sz="1200" dirty="0">
                <a:solidFill>
                  <a:srgbClr val="F5FAFF"/>
                </a:solidFill>
              </a:rPr>
              <a:t>DSA + clean Python coding</a:t>
            </a:r>
            <a:endParaRPr lang="en-US" sz="1200" dirty="0"/>
          </a:p>
          <a:p>
            <a:r>
              <a:rPr lang="en-US" sz="1200" dirty="0">
                <a:solidFill>
                  <a:srgbClr val="F5FAFF"/>
                </a:solidFill>
              </a:rPr>
              <a:t>SQL + backend/API basics</a:t>
            </a:r>
            <a:endParaRPr lang="en-US" sz="1200" dirty="0"/>
          </a:p>
          <a:p>
            <a:r>
              <a:rPr lang="en-US" sz="1200" dirty="0">
                <a:solidFill>
                  <a:srgbClr val="F5FAFF"/>
                </a:solidFill>
              </a:rPr>
              <a:t>Cloud/Docker/GitHub evidence</a:t>
            </a:r>
            <a:endParaRPr lang="en-US" sz="1200" dirty="0"/>
          </a:p>
          <a:p>
            <a:r>
              <a:rPr lang="en-US" sz="1200" dirty="0">
                <a:solidFill>
                  <a:srgbClr val="F5FAFF"/>
                </a:solidFill>
              </a:rPr>
              <a:t>Ability to explain metrics and trade-offs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Salary distribution interpretation based on Indeed salary pages, public entry-level references and current AI hiring reports.</a:t>
            </a:r>
            <a:endParaRPr lang="en-US" sz="58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Freshers: what skills actually map to roles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Pick a path. Trying to learn everything equally will make you average everywhere.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508760" cy="576072"/>
          </a:xfrm>
          <a:prstGeom prst="rect">
            <a:avLst/>
          </a:prstGeom>
          <a:solidFill>
            <a:srgbClr val="123359"/>
          </a:solidFill>
          <a:ln w="3810">
            <a:solidFill>
              <a:srgbClr val="254B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207008"/>
            <a:ext cx="13990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Role path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0" y="1143000"/>
            <a:ext cx="2743200" cy="576072"/>
          </a:xfrm>
          <a:prstGeom prst="rect">
            <a:avLst/>
          </a:prstGeom>
          <a:solidFill>
            <a:srgbClr val="123359"/>
          </a:solidFill>
          <a:ln w="3810">
            <a:solidFill>
              <a:srgbClr val="254B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66544" y="1207008"/>
            <a:ext cx="26334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Must-have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2697480" cy="576072"/>
          </a:xfrm>
          <a:prstGeom prst="rect">
            <a:avLst/>
          </a:prstGeom>
          <a:solidFill>
            <a:srgbClr val="123359"/>
          </a:solidFill>
          <a:ln w="3810">
            <a:solidFill>
              <a:srgbClr val="254B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207008"/>
            <a:ext cx="25877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Good differentiator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52360" y="1143000"/>
            <a:ext cx="3246120" cy="576072"/>
          </a:xfrm>
          <a:prstGeom prst="rect">
            <a:avLst/>
          </a:prstGeom>
          <a:solidFill>
            <a:srgbClr val="123359"/>
          </a:solidFill>
          <a:ln w="3810">
            <a:solidFill>
              <a:srgbClr val="254B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07224" y="1207008"/>
            <a:ext cx="31363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Project proof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719072"/>
            <a:ext cx="1508760" cy="57607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1773936"/>
            <a:ext cx="13990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Data/BI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11680" y="1719072"/>
            <a:ext cx="2743200" cy="57607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66544" y="1773936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SQL + Python + dashboard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719072"/>
            <a:ext cx="2697480" cy="57607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1773936"/>
            <a:ext cx="25877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Business metrics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52360" y="1719072"/>
            <a:ext cx="3246120" cy="57607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07224" y="1773936"/>
            <a:ext cx="31363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Sales/churn dashboard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2295144"/>
            <a:ext cx="1508760" cy="57607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" y="2350008"/>
            <a:ext cx="13990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Data Engg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011680" y="2295144"/>
            <a:ext cx="2743200" cy="57607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66544" y="2350008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SQL + pipelines + cloud basics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2295144"/>
            <a:ext cx="2697480" cy="57607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2350008"/>
            <a:ext cx="25877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Spark/Airflow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52360" y="2295144"/>
            <a:ext cx="3246120" cy="57607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07224" y="2350008"/>
            <a:ext cx="31363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ETL + data quality checks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" y="2871216"/>
            <a:ext cx="1508760" cy="57607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" y="2926080"/>
            <a:ext cx="13990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ML Engg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011680" y="2871216"/>
            <a:ext cx="2743200" cy="57607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66544" y="2926080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ML/DL + API + Docker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54880" y="2871216"/>
            <a:ext cx="2697480" cy="57607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2926080"/>
            <a:ext cx="25877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Monitoring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452360" y="2871216"/>
            <a:ext cx="3246120" cy="57607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07224" y="2926080"/>
            <a:ext cx="31363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Image/text model API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2920" y="3447288"/>
            <a:ext cx="1508760" cy="57607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" y="3502152"/>
            <a:ext cx="13990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GenAI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011680" y="3447288"/>
            <a:ext cx="2743200" cy="57607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66544" y="3502152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RAG + eval + vector DB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754880" y="3447288"/>
            <a:ext cx="2697480" cy="57607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9744" y="3502152"/>
            <a:ext cx="25877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Agent/tool use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452360" y="3447288"/>
            <a:ext cx="3246120" cy="57607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07224" y="3502152"/>
            <a:ext cx="31363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RAG app with test set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02920" y="4023360"/>
            <a:ext cx="1508760" cy="57607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" y="4078224"/>
            <a:ext cx="13990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MLOps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011680" y="4023360"/>
            <a:ext cx="2743200" cy="57607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66544" y="4078224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Docker + CI/CD + cloud/K8s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754880" y="4023360"/>
            <a:ext cx="2697480" cy="57607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9744" y="4078224"/>
            <a:ext cx="25877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Prometheus/Grafana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452360" y="4023360"/>
            <a:ext cx="3246120" cy="57607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07224" y="4078224"/>
            <a:ext cx="31363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Model deployment pipeline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02920" y="4599432"/>
            <a:ext cx="1508760" cy="57607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" y="4654296"/>
            <a:ext cx="13990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AI QA/Gov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2011680" y="4599432"/>
            <a:ext cx="2743200" cy="57607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66544" y="4654296"/>
            <a:ext cx="2633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Metrics + risk + testing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4754880" y="4599432"/>
            <a:ext cx="2697480" cy="57607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9744" y="4654296"/>
            <a:ext cx="25877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Policy + documentation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7452360" y="4599432"/>
            <a:ext cx="3246120" cy="57607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07224" y="4654296"/>
            <a:ext cx="31363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Model card + eval suite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Skill mapping synthesized from WEF, PwC and current AI role requirements.</a:t>
            </a:r>
            <a:endParaRPr lang="en-US" sz="580" dirty="0"/>
          </a:p>
        </p:txBody>
      </p:sp>
      <p:sp>
        <p:nvSpPr>
          <p:cNvPr id="6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Skills heatmap for AI jobs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This makes the difference between “I know AI” and “I can be hired for AI”.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572768" y="12984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BED4"/>
                </a:solidFill>
              </a:rPr>
              <a:t>Python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286000" y="12984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BED4"/>
                </a:solidFill>
              </a:rPr>
              <a:t>SQL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999232" y="12984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BED4"/>
                </a:solidFill>
              </a:rPr>
              <a:t>ML/DL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12464" y="12984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BED4"/>
                </a:solidFill>
              </a:rPr>
              <a:t>API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25696" y="12984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BED4"/>
                </a:solidFill>
              </a:rPr>
              <a:t>Docker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38928" y="12984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BED4"/>
                </a:solidFill>
              </a:rPr>
              <a:t>Cloud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0" y="12984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BED4"/>
                </a:solidFill>
              </a:rPr>
              <a:t>MLOps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65392" y="12984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BED4"/>
                </a:solidFill>
              </a:rPr>
              <a:t>LLM/RAG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278624" y="12984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BED4"/>
                </a:solidFill>
              </a:rPr>
              <a:t>Stats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91856" y="129844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BED4"/>
                </a:solidFill>
              </a:rPr>
              <a:t>Comm.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181051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FAFF"/>
                </a:solidFill>
              </a:rPr>
              <a:t>Data Analyst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55064" y="173736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68296" y="173736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23D18B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81528" y="173736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FFCB45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94760" y="173736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233C5B">
              <a:alpha val="65000"/>
            </a:srgbClr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07992" y="173736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233C5B">
              <a:alpha val="65000"/>
            </a:srgbClr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21224" y="173736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FFCB45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34456" y="173736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233C5B">
              <a:alpha val="65000"/>
            </a:srgbClr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47688" y="173736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233C5B">
              <a:alpha val="65000"/>
            </a:srgbClr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60920" y="173736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74152" y="173736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23D18B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31343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FAFF"/>
                </a:solidFill>
              </a:rPr>
              <a:t>Data Engineer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655064" y="224028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68296" y="224028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23D18B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81528" y="224028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FFCB45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94760" y="224028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FFCB45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07992" y="224028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21224" y="224028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34456" y="224028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FFCB45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47688" y="224028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233C5B">
              <a:alpha val="65000"/>
            </a:srgbClr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60920" y="224028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FFCB45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74152" y="224028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281635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FAFF"/>
                </a:solidFill>
              </a:rPr>
              <a:t>ML Engineer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655064" y="274320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23D18B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68296" y="274320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81528" y="274320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23D18B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94760" y="274320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07992" y="274320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21224" y="274320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34456" y="274320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47688" y="274320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FFCB45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60920" y="274320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23D18B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74152" y="274320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331927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FAFF"/>
                </a:solidFill>
              </a:rPr>
              <a:t>GenAI Engineer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655064" y="324612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68296" y="324612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81528" y="324612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94760" y="324612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23D18B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07992" y="324612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221224" y="324612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34456" y="324612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47688" y="324612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23D18B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60920" y="324612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74152" y="324612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" y="382219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FAFF"/>
                </a:solidFill>
              </a:rPr>
              <a:t>MLOps Engineer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1655064" y="374904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68296" y="374904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081528" y="374904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FFCB45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794760" y="374904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07992" y="374904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23D18B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221224" y="374904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23D18B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34456" y="374904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23D18B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647688" y="374904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FFCB45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60920" y="374904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FFCB45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074152" y="374904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4360" y="432511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FAFF"/>
                </a:solidFill>
              </a:rPr>
              <a:t>AI QA/Gov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1655064" y="425196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FFCB45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68296" y="425196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FFCB45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81528" y="425196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794760" y="425196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FFCB45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507992" y="425196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FFCB45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221224" y="425196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FFCB45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34456" y="425196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FFCB45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647688" y="425196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360920" y="425196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8C7FF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074152" y="425196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23D18B"/>
          </a:solidFill>
          <a:ln w="2540">
            <a:solidFill>
              <a:srgbClr val="0B1F3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418320" y="1463040"/>
            <a:ext cx="2011680" cy="2331720"/>
          </a:xfrm>
          <a:prstGeom prst="roundRect">
            <a:avLst>
              <a:gd name="adj" fmla="val 3636"/>
            </a:avLst>
          </a:prstGeom>
          <a:solidFill>
            <a:srgbClr val="0D2445"/>
          </a:solidFill>
          <a:ln w="12700">
            <a:solidFill>
              <a:srgbClr val="23476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646920" y="175564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8C7FF"/>
                </a:solidFill>
              </a:rPr>
              <a:t>LEGEND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9674352" y="2103120"/>
            <a:ext cx="320040" cy="210312"/>
          </a:xfrm>
          <a:prstGeom prst="roundRect">
            <a:avLst>
              <a:gd name="adj" fmla="val 13043"/>
            </a:avLst>
          </a:prstGeom>
          <a:solidFill>
            <a:srgbClr val="23D18B"/>
          </a:solidFill>
          <a:ln w="12700">
            <a:solidFill>
              <a:srgbClr val="23D18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104120" y="2130552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ED4"/>
                </a:solidFill>
              </a:rPr>
              <a:t>Core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9674352" y="2450592"/>
            <a:ext cx="320040" cy="210312"/>
          </a:xfrm>
          <a:prstGeom prst="roundRect">
            <a:avLst>
              <a:gd name="adj" fmla="val 13043"/>
            </a:avLst>
          </a:prstGeom>
          <a:solidFill>
            <a:srgbClr val="18C7FF"/>
          </a:solidFill>
          <a:ln w="12700">
            <a:solidFill>
              <a:srgbClr val="18C7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104120" y="2478024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ED4"/>
                </a:solidFill>
              </a:rPr>
              <a:t>Important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9674352" y="2798064"/>
            <a:ext cx="320040" cy="210312"/>
          </a:xfrm>
          <a:prstGeom prst="roundRect">
            <a:avLst>
              <a:gd name="adj" fmla="val 13043"/>
            </a:avLst>
          </a:prstGeom>
          <a:solidFill>
            <a:srgbClr val="FFCB45"/>
          </a:solidFill>
          <a:ln w="12700">
            <a:solidFill>
              <a:srgbClr val="FFCB4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104120" y="2825496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ED4"/>
                </a:solidFill>
              </a:rPr>
              <a:t>Useful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9674352" y="3145536"/>
            <a:ext cx="320040" cy="210312"/>
          </a:xfrm>
          <a:prstGeom prst="roundRect">
            <a:avLst>
              <a:gd name="adj" fmla="val 13043"/>
            </a:avLst>
          </a:prstGeom>
          <a:solidFill>
            <a:srgbClr val="233C5B"/>
          </a:solidFill>
          <a:ln w="12700">
            <a:solidFill>
              <a:srgbClr val="233C5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104120" y="3172968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ED4"/>
                </a:solidFill>
              </a:rPr>
              <a:t>Optional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777240" y="525780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5FAFF"/>
                </a:solidFill>
              </a:rPr>
              <a:t>Hard truth: Python-only candidates are no longer rare. Deployment + data + communication is what makes you stand out.</a:t>
            </a:r>
            <a:endParaRPr lang="en-US" sz="1120" dirty="0"/>
          </a:p>
        </p:txBody>
      </p:sp>
      <p:sp>
        <p:nvSpPr>
          <p:cNvPr id="91" name="Text 89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Heatmap is an instructional synthesis from market role requirements and report signals.</a:t>
            </a:r>
            <a:endParaRPr lang="en-US" sz="580" dirty="0"/>
          </a:p>
        </p:txBody>
      </p:sp>
      <p:sp>
        <p:nvSpPr>
          <p:cNvPr id="9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Hiring direction: what is rising vs getting squeezed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AI does not remove work equally. It rewards builders and squeezes repetitive low-skill work.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5074920" cy="4160520"/>
          </a:xfrm>
          <a:prstGeom prst="roundRect">
            <a:avLst>
              <a:gd name="adj" fmla="val 2198"/>
            </a:avLst>
          </a:prstGeom>
          <a:solidFill>
            <a:srgbClr val="082A38"/>
          </a:solidFill>
          <a:ln w="12700">
            <a:solidFill>
              <a:srgbClr val="23D18B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5361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3D18B"/>
                </a:solidFill>
              </a:rPr>
              <a:t>Rising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42976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00" dirty="0">
                <a:solidFill>
                  <a:srgbClr val="F5FAFF"/>
                </a:solidFill>
              </a:rPr>
              <a:t>AI engineers who can ship APIs</a:t>
            </a:r>
            <a:endParaRPr lang="en-US" sz="1200" dirty="0"/>
          </a:p>
          <a:p>
            <a:r>
              <a:rPr lang="en-US" sz="1200" dirty="0">
                <a:solidFill>
                  <a:srgbClr val="F5FAFF"/>
                </a:solidFill>
              </a:rPr>
              <a:t>Data engineers and platform builders</a:t>
            </a:r>
            <a:endParaRPr lang="en-US" sz="1200" dirty="0"/>
          </a:p>
          <a:p>
            <a:r>
              <a:rPr lang="en-US" sz="1200" dirty="0">
                <a:solidFill>
                  <a:srgbClr val="F5FAFF"/>
                </a:solidFill>
              </a:rPr>
              <a:t>LLM app + evaluation roles</a:t>
            </a:r>
            <a:endParaRPr lang="en-US" sz="1200" dirty="0"/>
          </a:p>
          <a:p>
            <a:r>
              <a:rPr lang="en-US" sz="1200" dirty="0">
                <a:solidFill>
                  <a:srgbClr val="F5FAFF"/>
                </a:solidFill>
              </a:rPr>
              <a:t>AI governance, model validation and quality</a:t>
            </a:r>
            <a:endParaRPr lang="en-US" sz="1200" dirty="0"/>
          </a:p>
          <a:p>
            <a:r>
              <a:rPr lang="en-US" sz="1200" dirty="0">
                <a:solidFill>
                  <a:srgbClr val="F5FAFF"/>
                </a:solidFill>
              </a:rPr>
              <a:t>Domain specialists: CV, speech, healthcare, manufacturing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234440"/>
            <a:ext cx="5074920" cy="4160520"/>
          </a:xfrm>
          <a:prstGeom prst="roundRect">
            <a:avLst>
              <a:gd name="adj" fmla="val 2198"/>
            </a:avLst>
          </a:prstGeom>
          <a:solidFill>
            <a:srgbClr val="36131D"/>
          </a:solidFill>
          <a:ln w="12700">
            <a:solidFill>
              <a:srgbClr val="FF5B5B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11112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5B5B"/>
                </a:solidFill>
              </a:rPr>
              <a:t>Squeezed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29400" y="2057400"/>
            <a:ext cx="42976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00" dirty="0">
                <a:solidFill>
                  <a:srgbClr val="F5FAFF"/>
                </a:solidFill>
              </a:rPr>
              <a:t>Template coding with no fundamentals</a:t>
            </a:r>
            <a:endParaRPr lang="en-US" sz="1200" dirty="0"/>
          </a:p>
          <a:p>
            <a:r>
              <a:rPr lang="en-US" sz="1200" dirty="0">
                <a:solidFill>
                  <a:srgbClr val="F5FAFF"/>
                </a:solidFill>
              </a:rPr>
              <a:t>Only prompt-copying, no evaluation</a:t>
            </a:r>
            <a:endParaRPr lang="en-US" sz="1200" dirty="0"/>
          </a:p>
          <a:p>
            <a:r>
              <a:rPr lang="en-US" sz="1200" dirty="0">
                <a:solidFill>
                  <a:srgbClr val="F5FAFF"/>
                </a:solidFill>
              </a:rPr>
              <a:t>Notebook-only ML with no product thinking</a:t>
            </a:r>
            <a:endParaRPr lang="en-US" sz="1200" dirty="0"/>
          </a:p>
          <a:p>
            <a:r>
              <a:rPr lang="en-US" sz="1200" dirty="0">
                <a:solidFill>
                  <a:srgbClr val="F5FAFF"/>
                </a:solidFill>
              </a:rPr>
              <a:t>Manual reporting where dashboards can automate</a:t>
            </a:r>
            <a:endParaRPr lang="en-US" sz="1200" dirty="0"/>
          </a:p>
          <a:p>
            <a:r>
              <a:rPr lang="en-US" sz="1200" dirty="0">
                <a:solidFill>
                  <a:srgbClr val="F5FAFF"/>
                </a:solidFill>
              </a:rPr>
              <a:t>Generic fresher resumes with no proof of 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Based on WEF 2025 skills outlook, PwC 2026 Jobs Barometer and current India IT/AI hiring signals.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Portfolio projects that get attention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For students, projects are your work experience. Make them production-style, not only academic.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22960" y="1170432"/>
            <a:ext cx="10332720" cy="566928"/>
          </a:xfrm>
          <a:prstGeom prst="roundRect">
            <a:avLst>
              <a:gd name="adj" fmla="val 9677"/>
            </a:avLst>
          </a:prstGeom>
          <a:solidFill>
            <a:srgbClr val="102A4C"/>
          </a:solidFill>
          <a:ln w="5080">
            <a:solidFill>
              <a:srgbClr val="2347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3167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8C7FF"/>
                </a:solidFill>
              </a:rPr>
              <a:t>Image model deployment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1316736"/>
            <a:ext cx="6995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8BED4"/>
                </a:solidFill>
              </a:rPr>
              <a:t>Train classifier → FastAPI → Docker → cloud/K8s → monitoring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10332720" cy="566928"/>
          </a:xfrm>
          <a:prstGeom prst="roundRect">
            <a:avLst>
              <a:gd name="adj" fmla="val 9677"/>
            </a:avLst>
          </a:prstGeom>
          <a:solidFill>
            <a:srgbClr val="0D2445"/>
          </a:solidFill>
          <a:ln w="5080">
            <a:solidFill>
              <a:srgbClr val="234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1122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3D18B"/>
                </a:solidFill>
              </a:rPr>
              <a:t>RAG chatbot with evaluation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0" y="2112264"/>
            <a:ext cx="6995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8BED4"/>
                </a:solidFill>
              </a:rPr>
              <a:t>Docs ingestion → vector DB → citations → test questions → latency/cost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761488"/>
            <a:ext cx="10332720" cy="566928"/>
          </a:xfrm>
          <a:prstGeom prst="roundRect">
            <a:avLst>
              <a:gd name="adj" fmla="val 9677"/>
            </a:avLst>
          </a:prstGeom>
          <a:solidFill>
            <a:srgbClr val="102A4C"/>
          </a:solidFill>
          <a:ln w="5080">
            <a:solidFill>
              <a:srgbClr val="2347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9077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CB45"/>
                </a:solidFill>
              </a:rPr>
              <a:t>Fraud/anomaly pipeline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2907792"/>
            <a:ext cx="6995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8BED4"/>
                </a:solidFill>
              </a:rPr>
              <a:t>SQL data → feature engineering → model → drift check dashboard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557016"/>
            <a:ext cx="10332720" cy="566928"/>
          </a:xfrm>
          <a:prstGeom prst="roundRect">
            <a:avLst>
              <a:gd name="adj" fmla="val 9677"/>
            </a:avLst>
          </a:prstGeom>
          <a:solidFill>
            <a:srgbClr val="0D2445"/>
          </a:solidFill>
          <a:ln w="5080">
            <a:solidFill>
              <a:srgbClr val="2347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7033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86BFF"/>
                </a:solidFill>
              </a:rPr>
              <a:t>MLOps mini-platform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3703320"/>
            <a:ext cx="6995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8BED4"/>
                </a:solidFill>
              </a:rPr>
              <a:t>MLflow/DVC → CI/CD → model registry → automatic deployment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352544"/>
            <a:ext cx="10332720" cy="566928"/>
          </a:xfrm>
          <a:prstGeom prst="roundRect">
            <a:avLst>
              <a:gd name="adj" fmla="val 9677"/>
            </a:avLst>
          </a:prstGeom>
          <a:solidFill>
            <a:srgbClr val="102A4C"/>
          </a:solidFill>
          <a:ln w="5080">
            <a:solidFill>
              <a:srgbClr val="2347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44988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9E42"/>
                </a:solidFill>
              </a:rPr>
              <a:t>Responsible AI case study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0" y="4498848"/>
            <a:ext cx="6995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A8BED4"/>
                </a:solidFill>
              </a:rPr>
              <a:t>Bias/fairness tests → model card → failure analysis → mitigation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5577840"/>
            <a:ext cx="10241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5FAFF"/>
                </a:solidFill>
              </a:rPr>
              <a:t>Every project should have: clear problem, dataset, metrics, API/demo, deployment instructions, screenshots/logs, and what failed.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Project recommendations aligned to AI job skills and your hands-on model deployment session.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 positioning for AI freshers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Your resume should prove capability, not list every buzzword on the internet.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082A38"/>
          </a:solidFill>
          <a:ln w="12700">
            <a:solidFill>
              <a:srgbClr val="23D18B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08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D18B"/>
                </a:solidFill>
              </a:rPr>
              <a:t>Strong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24128" y="1938528"/>
            <a:ext cx="4434840" cy="1572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00" dirty="0">
                <a:solidFill>
                  <a:srgbClr val="F5FAFF"/>
                </a:solidFill>
              </a:rPr>
              <a:t>“Deployed ResNet image classifier as FastAPI Docker service; p95 latency 180ms locally.”</a:t>
            </a:r>
            <a:endParaRPr lang="en-US" sz="1200" dirty="0"/>
          </a:p>
          <a:p>
            <a:r>
              <a:rPr lang="en-US" sz="1200" dirty="0">
                <a:solidFill>
                  <a:srgbClr val="F5FAFF"/>
                </a:solidFill>
              </a:rPr>
              <a:t>“Built RAG system with 120 test questions; reduced hallucinated answers from 22% to 7%.”</a:t>
            </a:r>
            <a:endParaRPr lang="en-US" sz="1200" dirty="0"/>
          </a:p>
          <a:p>
            <a:r>
              <a:rPr lang="en-US" sz="1200" dirty="0">
                <a:solidFill>
                  <a:srgbClr val="F5FAFF"/>
                </a:solidFill>
              </a:rPr>
              <a:t>“Created data pipeline with validation checks and dashboard for model drift.”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23444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36131D"/>
          </a:solidFill>
          <a:ln w="12700">
            <a:solidFill>
              <a:srgbClr val="FF5B5B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508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5B5B"/>
                </a:solidFill>
              </a:rPr>
              <a:t>Weak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56248" y="1938528"/>
            <a:ext cx="4434840" cy="1572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00" dirty="0">
                <a:solidFill>
                  <a:srgbClr val="F5FAFF"/>
                </a:solidFill>
              </a:rPr>
              <a:t>“Knowledge of AI, ML, DL, NLP, CV, GenAI, Cloud.”</a:t>
            </a:r>
            <a:endParaRPr lang="en-US" sz="1200" dirty="0"/>
          </a:p>
          <a:p>
            <a:r>
              <a:rPr lang="en-US" sz="1200" dirty="0">
                <a:solidFill>
                  <a:srgbClr val="F5FAFF"/>
                </a:solidFill>
              </a:rPr>
              <a:t>“Completed course on machine learning.”</a:t>
            </a:r>
            <a:endParaRPr lang="en-US" sz="1200" dirty="0"/>
          </a:p>
          <a:p>
            <a:r>
              <a:rPr lang="en-US" sz="1200" dirty="0">
                <a:solidFill>
                  <a:srgbClr val="F5FAFF"/>
                </a:solidFill>
              </a:rPr>
              <a:t>“Built chatbot using ChatGPT API” without metrics or deployment.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Resume advice derived from hiring signal synthesis; no single report owns this recommendation.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6-month roadmap for 5th semester students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Do not wait until final year. Build evidence now.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481328" cy="3566160"/>
          </a:xfrm>
          <a:prstGeom prst="roundRect">
            <a:avLst>
              <a:gd name="adj" fmla="val 5556"/>
            </a:avLst>
          </a:prstGeom>
          <a:solidFill>
            <a:srgbClr val="102A4C"/>
          </a:solidFill>
          <a:ln w="12700">
            <a:solidFill>
              <a:srgbClr val="18C7FF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" y="1691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C7FF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" y="233172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AFF"/>
                </a:solidFill>
              </a:rPr>
              <a:t>Python + SQL refresh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1207008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A8BED4"/>
                </a:solidFill>
              </a:rPr>
              <a:t>Numpy, pandas, SQL joins, Git/GitHub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87752" y="1417320"/>
            <a:ext cx="1481328" cy="3566160"/>
          </a:xfrm>
          <a:prstGeom prst="roundRect">
            <a:avLst>
              <a:gd name="adj" fmla="val 5556"/>
            </a:avLst>
          </a:prstGeom>
          <a:solidFill>
            <a:srgbClr val="0D2445"/>
          </a:solidFill>
          <a:ln w="12700">
            <a:solidFill>
              <a:srgbClr val="23D18B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1691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3D18B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43200" y="233172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AFF"/>
                </a:solidFill>
              </a:rPr>
              <a:t>ML fundamentals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24912" y="3154680"/>
            <a:ext cx="1207008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A8BED4"/>
                </a:solidFill>
              </a:rPr>
              <a:t>Supervised ML, metrics, train/test leakage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489704" y="1417320"/>
            <a:ext cx="1481328" cy="3566160"/>
          </a:xfrm>
          <a:prstGeom prst="roundRect">
            <a:avLst>
              <a:gd name="adj" fmla="val 5556"/>
            </a:avLst>
          </a:prstGeom>
          <a:solidFill>
            <a:srgbClr val="102A4C"/>
          </a:solidFill>
          <a:ln w="12700">
            <a:solidFill>
              <a:srgbClr val="FFCB45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1691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CB45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45152" y="233172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AFF"/>
                </a:solidFill>
              </a:rPr>
              <a:t>Deep learning + CV/NLP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26864" y="3154680"/>
            <a:ext cx="1207008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A8BED4"/>
                </a:solidFill>
              </a:rPr>
              <a:t>One image or text model, error analysis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391656" y="1417320"/>
            <a:ext cx="1481328" cy="3566160"/>
          </a:xfrm>
          <a:prstGeom prst="roundRect">
            <a:avLst>
              <a:gd name="adj" fmla="val 5556"/>
            </a:avLst>
          </a:prstGeom>
          <a:solidFill>
            <a:srgbClr val="0D2445"/>
          </a:solidFill>
          <a:ln w="12700">
            <a:solidFill>
              <a:srgbClr val="A86BFF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67144" y="1691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86BFF"/>
                </a:solidFill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47104" y="233172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AFF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28816" y="3154680"/>
            <a:ext cx="1207008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A8BED4"/>
                </a:solidFill>
              </a:rPr>
              <a:t>FastAPI, Docker, cloud basics, logging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293608" y="1417320"/>
            <a:ext cx="1481328" cy="3566160"/>
          </a:xfrm>
          <a:prstGeom prst="roundRect">
            <a:avLst>
              <a:gd name="adj" fmla="val 5556"/>
            </a:avLst>
          </a:prstGeom>
          <a:solidFill>
            <a:srgbClr val="102A4C"/>
          </a:solidFill>
          <a:ln w="12700">
            <a:solidFill>
              <a:srgbClr val="FF5BC8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69096" y="1691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5BC8"/>
                </a:solidFill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449056" y="233172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AFF"/>
                </a:solidFill>
              </a:rPr>
              <a:t>GenAI / RAG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30768" y="3154680"/>
            <a:ext cx="1207008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A8BED4"/>
                </a:solidFill>
              </a:rPr>
              <a:t>Embeddings, vector DB, evaluation set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195560" y="1417320"/>
            <a:ext cx="1481328" cy="3566160"/>
          </a:xfrm>
          <a:prstGeom prst="roundRect">
            <a:avLst>
              <a:gd name="adj" fmla="val 5556"/>
            </a:avLst>
          </a:prstGeom>
          <a:solidFill>
            <a:srgbClr val="0D2445"/>
          </a:solidFill>
          <a:ln w="12700">
            <a:solidFill>
              <a:srgbClr val="FF9E42">
                <a:alpha val="5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71048" y="1691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9E42"/>
                </a:solidFill>
              </a:rPr>
              <a:t>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0351008" y="233172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AFF"/>
                </a:solidFill>
              </a:rPr>
              <a:t>Portfolio + interviews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332720" y="3154680"/>
            <a:ext cx="1207008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A8BED4"/>
                </a:solidFill>
              </a:rPr>
              <a:t>2 polished projects, DSA basics, mock interviews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60120" y="5532120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AFF"/>
                </a:solidFill>
              </a:rPr>
              <a:t>Target: by semester 6, you should have at least one deployed ML API and one data/GenAI project with measurable evaluation.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Roadmap created for engineering students based on market role requirements.</a:t>
            </a:r>
            <a:endParaRPr lang="en-US" sz="58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Interview preparation: what they will test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They are not checking whether you memorized buzzwords. They check if you can reason.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1207008"/>
            <a:ext cx="2286000" cy="566928"/>
          </a:xfrm>
          <a:prstGeom prst="rect">
            <a:avLst/>
          </a:prstGeom>
          <a:solidFill>
            <a:srgbClr val="123359"/>
          </a:solidFill>
          <a:ln w="3810">
            <a:solidFill>
              <a:srgbClr val="254B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271016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Area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63240" y="1207008"/>
            <a:ext cx="8046720" cy="566928"/>
          </a:xfrm>
          <a:prstGeom prst="rect">
            <a:avLst/>
          </a:prstGeom>
          <a:solidFill>
            <a:srgbClr val="123359"/>
          </a:solidFill>
          <a:ln w="3810">
            <a:solidFill>
              <a:srgbClr val="254B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18104" y="1271016"/>
            <a:ext cx="7936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Expected questions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1773936"/>
            <a:ext cx="2286000" cy="566928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828800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Coding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63240" y="1773936"/>
            <a:ext cx="8046720" cy="566928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18104" y="1828800"/>
            <a:ext cx="7936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Python, data structures, simple APIs, debugging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2340864"/>
            <a:ext cx="2286000" cy="566928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" y="239572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ML fundamentals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63240" y="2340864"/>
            <a:ext cx="8046720" cy="566928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18104" y="2395728"/>
            <a:ext cx="7936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Overfitting, metrics, loss, data leakage, validation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2907792"/>
            <a:ext cx="2286000" cy="566928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" y="2962656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Project deep-dive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063240" y="2907792"/>
            <a:ext cx="8046720" cy="566928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18104" y="2962656"/>
            <a:ext cx="7936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Why this model? What failed? How did you measure?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3474720"/>
            <a:ext cx="2286000" cy="566928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" y="3529584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Deployment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063240" y="3474720"/>
            <a:ext cx="8046720" cy="566928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18104" y="3529584"/>
            <a:ext cx="7936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Docker, REST API, latency, errors, monitoring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7240" y="4041648"/>
            <a:ext cx="2286000" cy="566928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" y="409651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SQL/data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063240" y="4041648"/>
            <a:ext cx="8046720" cy="566928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18104" y="4096512"/>
            <a:ext cx="7936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Joins, aggregation, data cleaning, feature generation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7240" y="4608576"/>
            <a:ext cx="2286000" cy="566928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" y="4663440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FAFF"/>
                </a:solidFill>
              </a:rPr>
              <a:t>Communication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063240" y="4608576"/>
            <a:ext cx="8046720" cy="566928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18104" y="4663440"/>
            <a:ext cx="7936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8BED4"/>
                </a:solidFill>
              </a:rPr>
              <a:t>Explain to a non-technical stakeholder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0120" y="553212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B5B"/>
                </a:solidFill>
              </a:rPr>
              <a:t>Bad sign in interview: you cannot explain your own GitHub project without reading the README.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Interview guidance synthesized from common AI fresher hiring patterns.</a:t>
            </a:r>
            <a:endParaRPr lang="en-US" sz="58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freshers should look for AI jobs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Be strategic: different channels fit different skill levels.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337560" cy="4160520"/>
          </a:xfrm>
          <a:prstGeom prst="roundRect">
            <a:avLst>
              <a:gd name="adj" fmla="val 2192"/>
            </a:avLst>
          </a:prstGeom>
          <a:solidFill>
            <a:srgbClr val="082A38"/>
          </a:solidFill>
          <a:ln w="12700">
            <a:solidFill>
              <a:srgbClr val="23D18B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727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3D18B"/>
                </a:solidFill>
              </a:rPr>
              <a:t>High probability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51560" y="2148840"/>
            <a:ext cx="251460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00" dirty="0">
                <a:solidFill>
                  <a:srgbClr val="F5FAFF"/>
                </a:solidFill>
              </a:rPr>
              <a:t>Data analyst trainee</a:t>
            </a:r>
            <a:endParaRPr lang="en-US" sz="1400" dirty="0"/>
          </a:p>
          <a:p>
            <a:r>
              <a:rPr lang="en-US" sz="1400" dirty="0">
                <a:solidFill>
                  <a:srgbClr val="F5FAFF"/>
                </a:solidFill>
              </a:rPr>
              <a:t>AI/ML intern</a:t>
            </a:r>
            <a:endParaRPr lang="en-US" sz="1400" dirty="0"/>
          </a:p>
          <a:p>
            <a:r>
              <a:rPr lang="en-US" sz="1400" dirty="0">
                <a:solidFill>
                  <a:srgbClr val="F5FAFF"/>
                </a:solidFill>
              </a:rPr>
              <a:t>ML backend intern</a:t>
            </a:r>
            <a:endParaRPr lang="en-US" sz="1400" dirty="0"/>
          </a:p>
          <a:p>
            <a:r>
              <a:rPr lang="en-US" sz="1400" dirty="0">
                <a:solidFill>
                  <a:srgbClr val="F5FAFF"/>
                </a:solidFill>
              </a:rPr>
              <a:t>Data engineering intern</a:t>
            </a:r>
            <a:endParaRPr lang="en-US" sz="1400" dirty="0"/>
          </a:p>
          <a:p>
            <a:r>
              <a:rPr lang="en-US" sz="1400" dirty="0">
                <a:solidFill>
                  <a:srgbClr val="F5FAFF"/>
                </a:solidFill>
              </a:rPr>
              <a:t>QA automation + AI testing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26280" y="1234440"/>
            <a:ext cx="3337560" cy="4160520"/>
          </a:xfrm>
          <a:prstGeom prst="roundRect">
            <a:avLst>
              <a:gd name="adj" fmla="val 2192"/>
            </a:avLst>
          </a:prstGeom>
          <a:solidFill>
            <a:srgbClr val="2F2144"/>
          </a:solidFill>
          <a:ln w="12700">
            <a:solidFill>
              <a:srgbClr val="FFCB45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5727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CB45"/>
                </a:solidFill>
              </a:rPr>
              <a:t>Higher pay, harder entry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46320" y="2148840"/>
            <a:ext cx="251460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00" dirty="0">
                <a:solidFill>
                  <a:srgbClr val="F5FAFF"/>
                </a:solidFill>
              </a:rPr>
              <a:t>GenAI engineer intern</a:t>
            </a:r>
            <a:endParaRPr lang="en-US" sz="1400" dirty="0"/>
          </a:p>
          <a:p>
            <a:r>
              <a:rPr lang="en-US" sz="1400" dirty="0">
                <a:solidFill>
                  <a:srgbClr val="F5FAFF"/>
                </a:solidFill>
              </a:rPr>
              <a:t>MLOps/platform intern</a:t>
            </a:r>
            <a:endParaRPr lang="en-US" sz="1400" dirty="0"/>
          </a:p>
          <a:p>
            <a:r>
              <a:rPr lang="en-US" sz="1400" dirty="0">
                <a:solidFill>
                  <a:srgbClr val="F5FAFF"/>
                </a:solidFill>
              </a:rPr>
              <a:t>Computer vision engineer</a:t>
            </a:r>
            <a:endParaRPr lang="en-US" sz="1400" dirty="0"/>
          </a:p>
          <a:p>
            <a:r>
              <a:rPr lang="en-US" sz="1400" dirty="0">
                <a:solidFill>
                  <a:srgbClr val="F5FAFF"/>
                </a:solidFill>
              </a:rPr>
              <a:t>Applied scientist intern</a:t>
            </a:r>
            <a:endParaRPr lang="en-US" sz="1400" dirty="0"/>
          </a:p>
          <a:p>
            <a:r>
              <a:rPr lang="en-US" sz="1400" dirty="0">
                <a:solidFill>
                  <a:srgbClr val="F5FAFF"/>
                </a:solidFill>
              </a:rPr>
              <a:t>Product startup AI role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21040" y="1234440"/>
            <a:ext cx="3337560" cy="4160520"/>
          </a:xfrm>
          <a:prstGeom prst="roundRect">
            <a:avLst>
              <a:gd name="adj" fmla="val 2192"/>
            </a:avLst>
          </a:prstGeom>
          <a:solidFill>
            <a:srgbClr val="1D2E4B"/>
          </a:solidFill>
          <a:ln w="12700">
            <a:solidFill>
              <a:srgbClr val="18C7FF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15727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8C7FF"/>
                </a:solidFill>
              </a:rPr>
              <a:t>Alternative routes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41080" y="2148840"/>
            <a:ext cx="251460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00" dirty="0">
                <a:solidFill>
                  <a:srgbClr val="F5FAFF"/>
                </a:solidFill>
              </a:rPr>
              <a:t>Open-source contribution</a:t>
            </a:r>
            <a:endParaRPr lang="en-US" sz="1400" dirty="0"/>
          </a:p>
          <a:p>
            <a:r>
              <a:rPr lang="en-US" sz="1400" dirty="0">
                <a:solidFill>
                  <a:srgbClr val="F5FAFF"/>
                </a:solidFill>
              </a:rPr>
              <a:t>Research assistantship</a:t>
            </a:r>
            <a:endParaRPr lang="en-US" sz="1400" dirty="0"/>
          </a:p>
          <a:p>
            <a:r>
              <a:rPr lang="en-US" sz="1400" dirty="0">
                <a:solidFill>
                  <a:srgbClr val="F5FAFF"/>
                </a:solidFill>
              </a:rPr>
              <a:t>Hackathon with deployment</a:t>
            </a:r>
            <a:endParaRPr lang="en-US" sz="1400" dirty="0"/>
          </a:p>
          <a:p>
            <a:r>
              <a:rPr lang="en-US" sz="1400" dirty="0">
                <a:solidFill>
                  <a:srgbClr val="F5FAFF"/>
                </a:solidFill>
              </a:rPr>
              <a:t>Freelance analytics project</a:t>
            </a:r>
            <a:endParaRPr lang="en-US" sz="1400" dirty="0"/>
          </a:p>
          <a:p>
            <a:r>
              <a:rPr lang="en-US" sz="1400" dirty="0">
                <a:solidFill>
                  <a:srgbClr val="F5FAFF"/>
                </a:solidFill>
              </a:rPr>
              <a:t>College-industry project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Career channel guidance synthesized from current role categories and salary/job market signals.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Sector map: where AI jobs will show up in India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AI hiring follows business pain, not hype. Learn one domain deeply.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13232" y="1143000"/>
            <a:ext cx="5074920" cy="713232"/>
          </a:xfrm>
          <a:prstGeom prst="roundRect">
            <a:avLst>
              <a:gd name="adj" fmla="val 7692"/>
            </a:avLst>
          </a:prstGeom>
          <a:solidFill>
            <a:srgbClr val="102A4C"/>
          </a:solidFill>
          <a:ln w="12700">
            <a:solidFill>
              <a:srgbClr val="23D18B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075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3D18B"/>
                </a:solidFill>
              </a:rPr>
              <a:t>BFSI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42032" y="13258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ED4"/>
                </a:solidFill>
              </a:rPr>
              <a:t>fraud, risk, KYC, support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45352" y="1143000"/>
            <a:ext cx="5074920" cy="713232"/>
          </a:xfrm>
          <a:prstGeom prst="roundRect">
            <a:avLst>
              <a:gd name="adj" fmla="val 7692"/>
            </a:avLst>
          </a:prstGeom>
          <a:solidFill>
            <a:srgbClr val="102A4C"/>
          </a:solidFill>
          <a:ln w="12700">
            <a:solidFill>
              <a:srgbClr val="18C7FF">
                <a:alpha val="5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075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8C7FF"/>
                </a:solidFill>
              </a:rPr>
              <a:t>Manufacturing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74152" y="13258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ED4"/>
                </a:solidFill>
              </a:rPr>
              <a:t>defect detection, predictive maintenance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" y="2148840"/>
            <a:ext cx="5074920" cy="713232"/>
          </a:xfrm>
          <a:prstGeom prst="roundRect">
            <a:avLst>
              <a:gd name="adj" fmla="val 7692"/>
            </a:avLst>
          </a:prstGeom>
          <a:solidFill>
            <a:srgbClr val="102A4C"/>
          </a:solidFill>
          <a:ln w="12700">
            <a:solidFill>
              <a:srgbClr val="A86BFF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134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A86BFF"/>
                </a:solidFill>
              </a:rPr>
              <a:t>Healthcare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542032" y="23317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ED4"/>
                </a:solidFill>
              </a:rPr>
              <a:t>imaging, documentation, operations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45352" y="2148840"/>
            <a:ext cx="5074920" cy="713232"/>
          </a:xfrm>
          <a:prstGeom prst="roundRect">
            <a:avLst>
              <a:gd name="adj" fmla="val 7692"/>
            </a:avLst>
          </a:prstGeom>
          <a:solidFill>
            <a:srgbClr val="102A4C"/>
          </a:solidFill>
          <a:ln w="12700">
            <a:solidFill>
              <a:srgbClr val="FFCB45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3134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CB45"/>
                </a:solidFill>
              </a:rPr>
              <a:t>Retail / E-commerce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074152" y="23317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ED4"/>
                </a:solidFill>
              </a:rPr>
              <a:t>search, recommendation, pricing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" y="3154680"/>
            <a:ext cx="5074920" cy="713232"/>
          </a:xfrm>
          <a:prstGeom prst="roundRect">
            <a:avLst>
              <a:gd name="adj" fmla="val 7692"/>
            </a:avLst>
          </a:prstGeom>
          <a:solidFill>
            <a:srgbClr val="102A4C"/>
          </a:solidFill>
          <a:ln w="12700">
            <a:solidFill>
              <a:srgbClr val="2D7CFF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31927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D7CFF"/>
                </a:solidFill>
              </a:rPr>
              <a:t>IT services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542032" y="33375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ED4"/>
                </a:solidFill>
              </a:rPr>
              <a:t>automation, copilots, migration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45352" y="3154680"/>
            <a:ext cx="5074920" cy="713232"/>
          </a:xfrm>
          <a:prstGeom prst="roundRect">
            <a:avLst>
              <a:gd name="adj" fmla="val 7692"/>
            </a:avLst>
          </a:prstGeom>
          <a:solidFill>
            <a:srgbClr val="102A4C"/>
          </a:solidFill>
          <a:ln w="12700">
            <a:solidFill>
              <a:srgbClr val="FF9E42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31927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9E42"/>
                </a:solidFill>
              </a:rPr>
              <a:t>Education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074152" y="33375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ED4"/>
                </a:solidFill>
              </a:rPr>
              <a:t>personalized learning, assessments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" y="4160520"/>
            <a:ext cx="5074920" cy="713232"/>
          </a:xfrm>
          <a:prstGeom prst="roundRect">
            <a:avLst>
              <a:gd name="adj" fmla="val 7692"/>
            </a:avLst>
          </a:prstGeom>
          <a:solidFill>
            <a:srgbClr val="102A4C"/>
          </a:solidFill>
          <a:ln w="12700">
            <a:solidFill>
              <a:srgbClr val="23D18B">
                <a:alpha val="5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32511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3D18B"/>
                </a:solidFill>
              </a:rPr>
              <a:t>Agriculture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542032" y="43434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ED4"/>
                </a:solidFill>
              </a:rPr>
              <a:t>crop monitoring, advisory, supply chain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45352" y="4160520"/>
            <a:ext cx="5074920" cy="713232"/>
          </a:xfrm>
          <a:prstGeom prst="roundRect">
            <a:avLst>
              <a:gd name="adj" fmla="val 7692"/>
            </a:avLst>
          </a:prstGeom>
          <a:solidFill>
            <a:srgbClr val="102A4C"/>
          </a:solidFill>
          <a:ln w="12700">
            <a:solidFill>
              <a:srgbClr val="FF5B5B">
                <a:alpha val="5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32511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5B5B"/>
                </a:solidFill>
              </a:rPr>
              <a:t>Cybersecurity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074152" y="43434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ED4"/>
                </a:solidFill>
              </a:rPr>
              <a:t>anomaly detection, SOC automation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Sector examples reflect EY-CII India AI adoption and ServiceNow India jobs report themes.</a:t>
            </a:r>
            <a:endParaRPr lang="en-US" sz="58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action checklist for students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Do this before asking for referrals. Referrals cannot save an empty portfolio.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41248" y="1280160"/>
            <a:ext cx="292608" cy="292608"/>
          </a:xfrm>
          <a:prstGeom prst="ellipse">
            <a:avLst/>
          </a:prstGeom>
          <a:solidFill>
            <a:srgbClr val="18C7FF"/>
          </a:solidFill>
          <a:ln w="12700">
            <a:solidFill>
              <a:srgbClr val="18C7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344168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1021"/>
                </a:solidFill>
              </a:rPr>
              <a:t>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298448" y="1280160"/>
            <a:ext cx="9966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5FAFF"/>
                </a:solidFill>
              </a:rPr>
              <a:t>Pick one job family: Data / ML / GenAI / MLOps / CV-NLP / Governance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1248" y="1993392"/>
            <a:ext cx="292608" cy="292608"/>
          </a:xfrm>
          <a:prstGeom prst="ellipse">
            <a:avLst/>
          </a:prstGeom>
          <a:solidFill>
            <a:srgbClr val="23D18B"/>
          </a:solidFill>
          <a:ln w="12700">
            <a:solidFill>
              <a:srgbClr val="23D1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057400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1021"/>
                </a:solidFill>
              </a:rPr>
              <a:t>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298448" y="1993392"/>
            <a:ext cx="9966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5FAFF"/>
                </a:solidFill>
              </a:rPr>
              <a:t>Build two proof projects: one deployed, one domain-focused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" y="2706624"/>
            <a:ext cx="292608" cy="292608"/>
          </a:xfrm>
          <a:prstGeom prst="ellipse">
            <a:avLst/>
          </a:prstGeom>
          <a:solidFill>
            <a:srgbClr val="FFCB45"/>
          </a:solidFill>
          <a:ln w="12700">
            <a:solidFill>
              <a:srgbClr val="FFCB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770632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1021"/>
                </a:solidFill>
              </a:rPr>
              <a:t>3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298448" y="2706624"/>
            <a:ext cx="9966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5FAFF"/>
                </a:solidFill>
              </a:rPr>
              <a:t>Learn SQL seriously; it appears in more AI jobs than students expect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3419856"/>
            <a:ext cx="292608" cy="292608"/>
          </a:xfrm>
          <a:prstGeom prst="ellipse">
            <a:avLst/>
          </a:prstGeom>
          <a:solidFill>
            <a:srgbClr val="A86BFF"/>
          </a:solidFill>
          <a:ln w="12700">
            <a:solidFill>
              <a:srgbClr val="A8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483864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1021"/>
                </a:solidFill>
              </a:rPr>
              <a:t>4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298448" y="3419856"/>
            <a:ext cx="9966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5FAFF"/>
                </a:solidFill>
              </a:rPr>
              <a:t>Practice explaining model metrics, failures and trade-offs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41248" y="4133088"/>
            <a:ext cx="292608" cy="292608"/>
          </a:xfrm>
          <a:prstGeom prst="ellipse">
            <a:avLst/>
          </a:prstGeom>
          <a:solidFill>
            <a:srgbClr val="FF5BC8"/>
          </a:solidFill>
          <a:ln w="12700">
            <a:solidFill>
              <a:srgbClr val="FF5B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197096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1021"/>
                </a:solidFill>
              </a:rPr>
              <a:t>5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298448" y="4133088"/>
            <a:ext cx="9966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5FAFF"/>
                </a:solidFill>
              </a:rPr>
              <a:t>Show GitHub + README + screenshots + API/demo link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41248" y="4846320"/>
            <a:ext cx="292608" cy="292608"/>
          </a:xfrm>
          <a:prstGeom prst="ellipse">
            <a:avLst/>
          </a:prstGeom>
          <a:solidFill>
            <a:srgbClr val="FF9E42"/>
          </a:solidFill>
          <a:ln w="12700">
            <a:solidFill>
              <a:srgbClr val="FF9E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910328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1021"/>
                </a:solidFill>
              </a:rPr>
              <a:t>6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298448" y="4846320"/>
            <a:ext cx="9966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5FAFF"/>
                </a:solidFill>
              </a:rPr>
              <a:t>Apply to internships before you feel “fully ready”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" y="5715000"/>
            <a:ext cx="10104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D18B"/>
                </a:solidFill>
              </a:rPr>
              <a:t>The students who win are not the ones who know the most terms. They are the ones who can show working systems.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Career action checklist synthesized from market signals and fresher hiring expectations.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notes and salary disclaimer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Use this deck as guidance, not as guaranteed salary promises.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2194560" cy="530352"/>
          </a:xfrm>
          <a:prstGeom prst="rect">
            <a:avLst/>
          </a:prstGeom>
          <a:solidFill>
            <a:srgbClr val="123359"/>
          </a:solidFill>
          <a:ln w="3810">
            <a:solidFill>
              <a:srgbClr val="254B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1207008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FAFF"/>
                </a:solidFill>
              </a:rPr>
              <a:t>Topic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80360" y="1143000"/>
            <a:ext cx="8092440" cy="530352"/>
          </a:xfrm>
          <a:prstGeom prst="rect">
            <a:avLst/>
          </a:prstGeom>
          <a:solidFill>
            <a:srgbClr val="123359"/>
          </a:solidFill>
          <a:ln w="3810">
            <a:solidFill>
              <a:srgbClr val="254B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35224" y="1207008"/>
            <a:ext cx="7982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FAFF"/>
                </a:solidFill>
              </a:rPr>
              <a:t>Source / caveat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673352"/>
            <a:ext cx="219456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1728216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FAFF"/>
                </a:solidFill>
              </a:rPr>
              <a:t>Market size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80360" y="1673352"/>
            <a:ext cx="809244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35224" y="1728216"/>
            <a:ext cx="7982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8BED4"/>
                </a:solidFill>
              </a:rPr>
              <a:t>Grand View Research global AI market; IMARC India AI market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203704"/>
            <a:ext cx="2194560" cy="53035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" y="2258568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FAFF"/>
                </a:solidFill>
              </a:rPr>
              <a:t>Jobs &amp; skills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80360" y="2203704"/>
            <a:ext cx="8092440" cy="53035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35224" y="2258568"/>
            <a:ext cx="7982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8BED4"/>
                </a:solidFill>
              </a:rPr>
              <a:t>WEF Future of Jobs 2025; PwC 2026 Global AI Jobs Barometer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2734056"/>
            <a:ext cx="219456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" y="2788920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FAFF"/>
                </a:solidFill>
              </a:rPr>
              <a:t>India adoption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80360" y="2734056"/>
            <a:ext cx="809244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35224" y="2788920"/>
            <a:ext cx="7982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8BED4"/>
                </a:solidFill>
              </a:rPr>
              <a:t>EY-CII Outlook 2026; ServiceNow India AI Skills &amp; Jobs Report; PIB/Stanford AI Index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3264408"/>
            <a:ext cx="2194560" cy="53035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3319272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FAFF"/>
                </a:solidFill>
              </a:rPr>
              <a:t>Salaries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80360" y="3264408"/>
            <a:ext cx="8092440" cy="530352"/>
          </a:xfrm>
          <a:prstGeom prst="rect">
            <a:avLst/>
          </a:prstGeom>
          <a:solidFill>
            <a:srgbClr val="0A1D38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35224" y="3319272"/>
            <a:ext cx="7982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8BED4"/>
                </a:solidFill>
              </a:rPr>
              <a:t>Indeed India salary pages updated Jun–Jul 2026; public entry-level salary references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3794760"/>
            <a:ext cx="219456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" y="3849624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FAFF"/>
                </a:solidFill>
              </a:rPr>
              <a:t>Important caveat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880360" y="3794760"/>
            <a:ext cx="8092440" cy="530352"/>
          </a:xfrm>
          <a:prstGeom prst="rect">
            <a:avLst/>
          </a:prstGeom>
          <a:solidFill>
            <a:srgbClr val="0D2445"/>
          </a:solidFill>
          <a:ln w="3175">
            <a:solidFill>
              <a:srgbClr val="1C3D63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35224" y="3849624"/>
            <a:ext cx="7982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8BED4"/>
                </a:solidFill>
              </a:rPr>
              <a:t>Salary portals use samples; freshers vary by company, city, college, projects and interview performance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5413248"/>
            <a:ext cx="10058400" cy="502920"/>
          </a:xfrm>
          <a:prstGeom prst="roundRect">
            <a:avLst>
              <a:gd name="adj" fmla="val 10909"/>
            </a:avLst>
          </a:prstGeom>
          <a:solidFill>
            <a:srgbClr val="061A31"/>
          </a:solidFill>
          <a:ln w="12700">
            <a:solidFill>
              <a:srgbClr val="FFCB45">
                <a:alpha val="5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5577840"/>
            <a:ext cx="9555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5FAFF"/>
                </a:solidFill>
              </a:rPr>
              <a:t> “₹15+ LPA as a fresher is possible, but not rare. Skill evidence first, salary second.”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530352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7894AD"/>
                </a:solidFill>
              </a:rPr>
              <a:t>Sources embedded in speaker notes.</a:t>
            </a:r>
            <a:endParaRPr lang="en-US" sz="58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7EC8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6480</Words>
  <Application>Microsoft Office PowerPoint</Application>
  <PresentationFormat>Widescreen</PresentationFormat>
  <Paragraphs>554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Jobs Trends 2026: India Fresher Guide</dc:title>
  <dc:subject>AI Jobs Trends, Market Reports and Fresher Salaries in India</dc:subject>
  <dc:creator>OpenAI</dc:creator>
  <cp:lastModifiedBy>Sanjay N T</cp:lastModifiedBy>
  <cp:revision>26</cp:revision>
  <dcterms:created xsi:type="dcterms:W3CDTF">2026-07-11T00:49:29Z</dcterms:created>
  <dcterms:modified xsi:type="dcterms:W3CDTF">2026-07-11T02:52:16Z</dcterms:modified>
</cp:coreProperties>
</file>