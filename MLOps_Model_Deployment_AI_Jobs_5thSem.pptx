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7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802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8FBEA-EA4A-11BD-228F-68809AAB9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74142C-338B-2ADE-7576-2B0566431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263CC-8C35-4A3C-0797-E03FBC29A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0FD14-349A-F9B8-DB10-6F18F77E5A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301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modern_classroom_lecture_scene_batch_1.png"/>
          <p:cNvPicPr>
            <a:picLocks noChangeAspect="1"/>
          </p:cNvPicPr>
          <p:nvPr/>
        </p:nvPicPr>
        <p:blipFill>
          <a:blip r:embed="rId3"/>
          <a:srcRect l="25113" r="25113"/>
          <a:stretch/>
        </p:blipFill>
        <p:spPr>
          <a:xfrm>
            <a:off x="6126480" y="0"/>
            <a:ext cx="60652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717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6928" y="64008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FFB84D">
              <a:alpha val="90000"/>
            </a:srgbClr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713232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7172E"/>
                </a:solidFill>
              </a:rPr>
              <a:t>For 5th semester engineering students</a:t>
            </a:r>
            <a:endParaRPr lang="en-US" sz="82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4846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EAF2FF"/>
                </a:solidFill>
              </a:rPr>
              <a:t>MLOps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AF2FF"/>
                </a:solidFill>
              </a:rPr>
              <a:t>Model Deployment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85216" y="27889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7FF"/>
                </a:solidFill>
              </a:rPr>
              <a:t>Industry perspective + hands-on image model deployment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3504" y="3493008"/>
            <a:ext cx="4892040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34D7FF"/>
                </a:solidFill>
              </a:rPr>
              <a:t>• </a:t>
            </a:r>
            <a:r>
              <a:rPr lang="en-US" sz="1450" dirty="0">
                <a:solidFill>
                  <a:srgbClr val="EAF2FF"/>
                </a:solidFill>
              </a:rPr>
              <a:t>What companies expect from AI engineers now
</a:t>
            </a:r>
            <a:r>
              <a:rPr lang="en-US" sz="1450" b="1" dirty="0">
                <a:solidFill>
                  <a:srgbClr val="34D7FF"/>
                </a:solidFill>
              </a:rPr>
              <a:t>• </a:t>
            </a:r>
            <a:r>
              <a:rPr lang="en-US" sz="1450" dirty="0">
                <a:solidFill>
                  <a:srgbClr val="EAF2FF"/>
                </a:solidFill>
              </a:rPr>
              <a:t>How ML moves from notebook to production
</a:t>
            </a:r>
            <a:r>
              <a:rPr lang="en-US" sz="1450" b="1" dirty="0">
                <a:solidFill>
                  <a:srgbClr val="34D7FF"/>
                </a:solidFill>
              </a:rPr>
              <a:t>• </a:t>
            </a:r>
            <a:r>
              <a:rPr lang="en-US" sz="1450" dirty="0">
                <a:solidFill>
                  <a:srgbClr val="EAF2FF"/>
                </a:solidFill>
              </a:rPr>
              <a:t>Build, serve, containerize and deploy an image classifier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3504" y="59893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9FB4D1"/>
                </a:solidFill>
              </a:rPr>
              <a:t>Session format: Part 1 concepts + Part 2 hands-on lab</a:t>
            </a:r>
            <a:endParaRPr lang="en-US" sz="970" dirty="0"/>
          </a:p>
        </p:txBody>
      </p:sp>
      <p:sp>
        <p:nvSpPr>
          <p:cNvPr id="10" name="Text 7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5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B9B31B0F-8C6A-5F55-5DC8-F52396E636FF}"/>
              </a:ext>
            </a:extLst>
          </p:cNvPr>
          <p:cNvSpPr/>
          <p:nvPr/>
        </p:nvSpPr>
        <p:spPr>
          <a:xfrm>
            <a:off x="9565301" y="6190488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chemeClr val="bg1"/>
                </a:solidFill>
              </a:rPr>
              <a:t>By Sanjay 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OUTCOME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By the end, you should be able to explain and build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Keep the promise realistic: one deployable mini-system is better than ten half-finished notebooks.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9536" y="181051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7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F2FF"/>
                </a:solidFill>
              </a:rPr>
              <a:t>Industry view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81328" y="2231136"/>
            <a:ext cx="3703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9FB4D1"/>
                </a:solidFill>
              </a:rPr>
              <a:t>Why AI hiring is moving from experiments to deployed systems.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6345936" y="181051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7FF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4944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F2FF"/>
                </a:solidFill>
              </a:rPr>
              <a:t>Problem framing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967728" y="2231136"/>
            <a:ext cx="3703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9FB4D1"/>
                </a:solidFill>
              </a:rPr>
              <a:t>Turn a business problem into data, model, API and monitoring requirements.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859536" y="373075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7FF"/>
                </a:solidFill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749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F2FF"/>
                </a:solidFill>
              </a:rPr>
              <a:t>Hands-on deployment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81328" y="4151376"/>
            <a:ext cx="3703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9FB4D1"/>
                </a:solidFill>
              </a:rPr>
              <a:t>Train an image classifier, expose it through an API and package it.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6345936" y="373075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7FF"/>
                </a:solidFill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49440" y="3749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F2FF"/>
                </a:solidFill>
              </a:rPr>
              <a:t>Career direction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967728" y="4151376"/>
            <a:ext cx="3703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9FB4D1"/>
                </a:solidFill>
              </a:rPr>
              <a:t>Build a portfolio that proves engineering ability, not just certificates.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0722E-E0EF-3870-80E9-A916FDC7B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C99C0A-4B89-0339-54FB-BB72935EC7AE}"/>
              </a:ext>
            </a:extLst>
          </p:cNvPr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OUTCOME</a:t>
            </a:r>
            <a:endParaRPr lang="en-US" sz="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D8FB10-5589-EDD1-5CB2-7EC94B2FE322}"/>
              </a:ext>
            </a:extLst>
          </p:cNvPr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Case Study</a:t>
            </a:r>
            <a:endParaRPr lang="en-US" sz="2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EA60C6-D4DB-880C-361A-3E9D6B33DE2A}"/>
              </a:ext>
            </a:extLst>
          </p:cNvPr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Lets analyze a problem.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8C64B2-7D78-1448-FC8A-8E263D69ABFF}"/>
              </a:ext>
            </a:extLst>
          </p:cNvPr>
          <p:cNvSpPr/>
          <p:nvPr/>
        </p:nvSpPr>
        <p:spPr>
          <a:xfrm>
            <a:off x="859536" y="181051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7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E7C8E97-6A94-3705-B469-63E48C437369}"/>
              </a:ext>
            </a:extLst>
          </p:cNvPr>
          <p:cNvSpPr/>
          <p:nvPr/>
        </p:nvSpPr>
        <p:spPr>
          <a:xfrm>
            <a:off x="146304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F2FF"/>
                </a:solidFill>
              </a:rPr>
              <a:t>Industry view</a:t>
            </a:r>
            <a:endParaRPr lang="en-US" sz="15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BDE7FE-BDAC-7257-E7DD-FFDA46C875A1}"/>
              </a:ext>
            </a:extLst>
          </p:cNvPr>
          <p:cNvSpPr/>
          <p:nvPr/>
        </p:nvSpPr>
        <p:spPr>
          <a:xfrm>
            <a:off x="1481328" y="2231136"/>
            <a:ext cx="3703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9FB4D1"/>
                </a:solidFill>
              </a:rPr>
              <a:t>Why AI hiring is moving from experiments to deployed systems.</a:t>
            </a:r>
            <a:endParaRPr lang="en-US" sz="104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B79A680-1E10-FD81-5351-49EA0D71E681}"/>
              </a:ext>
            </a:extLst>
          </p:cNvPr>
          <p:cNvSpPr/>
          <p:nvPr/>
        </p:nvSpPr>
        <p:spPr>
          <a:xfrm>
            <a:off x="6345936" y="181051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7FF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2FEF16F-E0C3-E18F-E9DC-10D2435926C3}"/>
              </a:ext>
            </a:extLst>
          </p:cNvPr>
          <p:cNvSpPr/>
          <p:nvPr/>
        </p:nvSpPr>
        <p:spPr>
          <a:xfrm>
            <a:off x="694944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F2FF"/>
                </a:solidFill>
              </a:rPr>
              <a:t>Problem framing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B803018-8B6A-9DDD-AA47-6DC9AF7876E8}"/>
              </a:ext>
            </a:extLst>
          </p:cNvPr>
          <p:cNvSpPr/>
          <p:nvPr/>
        </p:nvSpPr>
        <p:spPr>
          <a:xfrm>
            <a:off x="6967728" y="2231136"/>
            <a:ext cx="3703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9FB4D1"/>
                </a:solidFill>
              </a:rPr>
              <a:t>Turn a business problem into data, model, API and monitoring requirements.</a:t>
            </a:r>
            <a:endParaRPr lang="en-US" sz="104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B7ECD95-DB36-6203-633F-E3F3DCB87F8A}"/>
              </a:ext>
            </a:extLst>
          </p:cNvPr>
          <p:cNvSpPr/>
          <p:nvPr/>
        </p:nvSpPr>
        <p:spPr>
          <a:xfrm>
            <a:off x="859536" y="373075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7FF"/>
                </a:solidFill>
              </a:rPr>
              <a:t>03</a:t>
            </a:r>
            <a:endParaRPr lang="en-US" sz="1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FCFEC89-1083-C1AC-8D8C-B891DB53A127}"/>
              </a:ext>
            </a:extLst>
          </p:cNvPr>
          <p:cNvSpPr/>
          <p:nvPr/>
        </p:nvSpPr>
        <p:spPr>
          <a:xfrm>
            <a:off x="1463040" y="3749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F2FF"/>
                </a:solidFill>
              </a:rPr>
              <a:t>Hands-on deployment</a:t>
            </a:r>
            <a:endParaRPr lang="en-US" sz="15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0CFC3C5-D801-5D0C-6A10-DAC5073E0D24}"/>
              </a:ext>
            </a:extLst>
          </p:cNvPr>
          <p:cNvSpPr/>
          <p:nvPr/>
        </p:nvSpPr>
        <p:spPr>
          <a:xfrm>
            <a:off x="1481328" y="4151376"/>
            <a:ext cx="3703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9FB4D1"/>
                </a:solidFill>
              </a:rPr>
              <a:t>Train an image classifier, expose it through an API and package it.</a:t>
            </a:r>
            <a:endParaRPr lang="en-US" sz="104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93502AD-F031-7877-FEBA-68428FCC8DCB}"/>
              </a:ext>
            </a:extLst>
          </p:cNvPr>
          <p:cNvSpPr/>
          <p:nvPr/>
        </p:nvSpPr>
        <p:spPr>
          <a:xfrm>
            <a:off x="6345936" y="373075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7FF"/>
                </a:solidFill>
              </a:rPr>
              <a:t>04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089CD71-7B7A-1C72-6C49-BB0EA707A0C2}"/>
              </a:ext>
            </a:extLst>
          </p:cNvPr>
          <p:cNvSpPr/>
          <p:nvPr/>
        </p:nvSpPr>
        <p:spPr>
          <a:xfrm>
            <a:off x="6949440" y="3749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F2FF"/>
                </a:solidFill>
              </a:rPr>
              <a:t>Career direction</a:t>
            </a:r>
            <a:endParaRPr lang="en-US" sz="15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B5F5C8B-B57C-9AA5-B062-0D920434177A}"/>
              </a:ext>
            </a:extLst>
          </p:cNvPr>
          <p:cNvSpPr/>
          <p:nvPr/>
        </p:nvSpPr>
        <p:spPr>
          <a:xfrm>
            <a:off x="6967728" y="4151376"/>
            <a:ext cx="3703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9FB4D1"/>
                </a:solidFill>
              </a:rPr>
              <a:t>Build a portfolio that proves engineering ability, not just certificates.</a:t>
            </a:r>
            <a:endParaRPr lang="en-US" sz="104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DC68FBF-F806-3DFA-A0F8-FEA7DE5B4D0E}"/>
              </a:ext>
            </a:extLst>
          </p:cNvPr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50" dirty="0"/>
          </a:p>
        </p:txBody>
      </p:sp>
    </p:spTree>
    <p:extLst>
      <p:ext uri="{BB962C8B-B14F-4D97-AF65-F5344CB8AC3E}">
        <p14:creationId xmlns:p14="http://schemas.microsoft.com/office/powerpoint/2010/main" val="2519271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PLAN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Two-part session 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Designed for students who know basic Python and have started ML/DL.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2971800" cy="3246120"/>
          </a:xfrm>
          <a:prstGeom prst="roundRect">
            <a:avLst>
              <a:gd name="adj" fmla="val 1846"/>
            </a:avLst>
          </a:prstGeom>
          <a:solidFill>
            <a:srgbClr val="0D2546"/>
          </a:solidFill>
          <a:ln w="10160">
            <a:solidFill>
              <a:srgbClr val="1E3C63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7FF"/>
                </a:solidFill>
              </a:rPr>
              <a:t>00–20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F2FF"/>
                </a:solidFill>
              </a:rPr>
              <a:t>Industry reality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255264"/>
            <a:ext cx="2286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4D1"/>
                </a:solidFill>
              </a:rPr>
              <a:t>AI jobs, role map, expectations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2971800" cy="3246120"/>
          </a:xfrm>
          <a:prstGeom prst="roundRect">
            <a:avLst>
              <a:gd name="adj" fmla="val 1846"/>
            </a:avLst>
          </a:prstGeom>
          <a:solidFill>
            <a:srgbClr val="0D2546"/>
          </a:solidFill>
          <a:ln w="10160">
            <a:solidFill>
              <a:srgbClr val="1E3C63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7FF"/>
                </a:solidFill>
              </a:rPr>
              <a:t>20–45 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F2FF"/>
                </a:solidFill>
              </a:rPr>
              <a:t>Example problem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255264"/>
            <a:ext cx="2286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4D1"/>
                </a:solidFill>
              </a:rPr>
              <a:t>Image inspection from business view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01000" y="1645920"/>
            <a:ext cx="2971800" cy="3246120"/>
          </a:xfrm>
          <a:prstGeom prst="roundRect">
            <a:avLst>
              <a:gd name="adj" fmla="val 1846"/>
            </a:avLst>
          </a:prstGeom>
          <a:solidFill>
            <a:srgbClr val="102B4F"/>
          </a:solidFill>
          <a:ln w="10160">
            <a:solidFill>
              <a:srgbClr val="34D7FF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84D"/>
                </a:solidFill>
              </a:rPr>
              <a:t>45–120 min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2514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F2FF"/>
                </a:solidFill>
              </a:rPr>
              <a:t>Hands-on lab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3255264"/>
            <a:ext cx="2286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4D1"/>
                </a:solidFill>
              </a:rPr>
              <a:t>Train → API → Docker → Deploy → Monitor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11880" y="3246120"/>
            <a:ext cx="548640" cy="0"/>
          </a:xfrm>
          <a:prstGeom prst="line">
            <a:avLst/>
          </a:prstGeom>
          <a:noFill/>
          <a:ln w="25400">
            <a:solidFill>
              <a:srgbClr val="34D7F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69480" y="3246120"/>
            <a:ext cx="548640" cy="0"/>
          </a:xfrm>
          <a:prstGeom prst="line">
            <a:avLst/>
          </a:prstGeom>
          <a:noFill/>
          <a:ln w="25400">
            <a:solidFill>
              <a:srgbClr val="34D7FF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286000" y="562356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84D"/>
                </a:solidFill>
              </a:rPr>
              <a:t>Best session rule: students should leave with something runnable.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INDUSTRY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The market signal: AI is no longer a side project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Companies are under pressure to convert AI into productivity, automation and reliable products.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1600200"/>
            <a:ext cx="2240280" cy="786384"/>
          </a:xfrm>
          <a:prstGeom prst="roundRect">
            <a:avLst>
              <a:gd name="adj" fmla="val 6977"/>
            </a:avLst>
          </a:prstGeom>
          <a:solidFill>
            <a:srgbClr val="0A213F"/>
          </a:solidFill>
          <a:ln w="10160">
            <a:solidFill>
              <a:srgbClr val="264B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28216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7FF"/>
                </a:solidFill>
              </a:rPr>
              <a:t>53%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2104" y="2057400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9FB4D1"/>
                </a:solidFill>
              </a:rPr>
              <a:t>GenAI reached population-level adoption in ~3 years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3246120" y="1600200"/>
            <a:ext cx="2240280" cy="786384"/>
          </a:xfrm>
          <a:prstGeom prst="roundRect">
            <a:avLst>
              <a:gd name="adj" fmla="val 6977"/>
            </a:avLst>
          </a:prstGeom>
          <a:solidFill>
            <a:srgbClr val="0A213F"/>
          </a:solidFill>
          <a:ln w="10160">
            <a:solidFill>
              <a:srgbClr val="264B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728216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7FF"/>
                </a:solidFill>
              </a:rPr>
              <a:t>40%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64992" y="2057400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9FB4D1"/>
                </a:solidFill>
              </a:rPr>
              <a:t>AI-exposed companies report higher productivity growth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5779008" y="1600200"/>
            <a:ext cx="2240280" cy="786384"/>
          </a:xfrm>
          <a:prstGeom prst="roundRect">
            <a:avLst>
              <a:gd name="adj" fmla="val 6977"/>
            </a:avLst>
          </a:prstGeom>
          <a:solidFill>
            <a:srgbClr val="0A213F"/>
          </a:solidFill>
          <a:ln w="10160">
            <a:solidFill>
              <a:srgbClr val="264B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88736" y="1728216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7FF"/>
                </a:solidFill>
              </a:rPr>
              <a:t>+55%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97880" y="2057400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9FB4D1"/>
                </a:solidFill>
              </a:rPr>
              <a:t>AI skills in job postings grew YoY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8311896" y="1600200"/>
            <a:ext cx="2240280" cy="786384"/>
          </a:xfrm>
          <a:prstGeom prst="roundRect">
            <a:avLst>
              <a:gd name="adj" fmla="val 6977"/>
            </a:avLst>
          </a:prstGeom>
          <a:solidFill>
            <a:srgbClr val="0A213F"/>
          </a:solidFill>
          <a:ln w="10160">
            <a:solidFill>
              <a:srgbClr val="264B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728216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7FF"/>
                </a:solidFill>
              </a:rPr>
              <a:t>+280%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30768" y="2057400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9FB4D1"/>
                </a:solidFill>
              </a:rPr>
              <a:t>Agentic AI skill mentions grew YoY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960120" y="3337560"/>
            <a:ext cx="99669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AF2FF"/>
                </a:solidFill>
              </a:rPr>
              <a:t>Industry is shifting from “Can we train a model?” to “Can we run it safely, cheaply and continuously?”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60120" y="452628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D1"/>
                </a:solidFill>
              </a:rPr>
              <a:t>Teaching implication: deployment + monitoring matter early, not after graduation.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30352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6F86A9"/>
                </a:solidFill>
              </a:rPr>
              <a:t>Sources: Stanford AI Index 2026; PwC AI Jobs Barometer 2026; Lightcast/Stanford job postings analysis.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JOBS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India job reality: opportunity exists, but the bar is rising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The honest message for all: AI is not a shortcut around engineering basics.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0972800" cy="868680"/>
          </a:xfrm>
          <a:prstGeom prst="rect">
            <a:avLst/>
          </a:prstGeom>
          <a:solidFill>
            <a:srgbClr val="0A213F"/>
          </a:solidFill>
          <a:ln w="12700">
            <a:solidFill>
              <a:srgbClr val="2849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819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4D"/>
                </a:solidFill>
              </a:rPr>
              <a:t>June 2026 India signal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83280" y="157276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2FF"/>
                </a:solidFill>
              </a:rPr>
              <a:t>AI hiring in IT rose 16% YoY while overall IT hiring fell 3%; AI/ML jobs across 14 sectors rose 25%.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0D2546"/>
          </a:solidFill>
          <a:ln w="10160">
            <a:solidFill>
              <a:srgbClr val="1E3C63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0358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1D983"/>
                </a:solidFill>
              </a:rPr>
              <a:t>What is growing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3547872"/>
            <a:ext cx="28346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9FB4D1"/>
                </a:solidFill>
              </a:rPr>
              <a:t>AI Engineer, ML Engineer, MLOps, Data Engineer, GenAI apps, automation, analytics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507992" y="2788920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0D2546"/>
          </a:solidFill>
          <a:ln w="10160">
            <a:solidFill>
              <a:srgbClr val="1E3C63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36592" y="30358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6B"/>
                </a:solidFill>
              </a:rPr>
              <a:t>What is shrinking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3547872"/>
            <a:ext cx="28346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9FB4D1"/>
                </a:solidFill>
              </a:rPr>
              <a:t>Only-theory ML, copy-paste notebooks, chatbot demos with no evaluation, no deployment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284464" y="2788920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0D2546"/>
          </a:solidFill>
          <a:ln w="10160">
            <a:solidFill>
              <a:srgbClr val="1E3C63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13064" y="30358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7FF"/>
                </a:solidFill>
              </a:rPr>
              <a:t>What employers test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77072" y="3547872"/>
            <a:ext cx="28346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9FB4D1"/>
                </a:solidFill>
              </a:rPr>
              <a:t>Problem solving, Python, SQL, APIs, Git, cloud basics, model evaluation, reliability mindset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30352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6F86A9"/>
                </a:solidFill>
              </a:rPr>
              <a:t>Source: Reuters/Naukri JobSpeak, July 3 2026; LinkedIn Skills on the Rise 2026 India.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EXPECTATION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What companies expect from an entry-level AI candidate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 Start building these habits now; nobody expects you to know everything yet.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938528" cy="3383280"/>
          </a:xfrm>
          <a:prstGeom prst="roundRect">
            <a:avLst>
              <a:gd name="adj" fmla="val 2830"/>
            </a:avLst>
          </a:prstGeom>
          <a:solidFill>
            <a:srgbClr val="0E2A4D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745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4D7FF"/>
                </a:solidFill>
              </a:rPr>
              <a:t>Coding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606040"/>
            <a:ext cx="153619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F"/>
                </a:solidFill>
              </a:rPr>
              <a:t>Python, Git, debugging, clean functions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90088" y="1600200"/>
            <a:ext cx="1938528" cy="3383280"/>
          </a:xfrm>
          <a:prstGeom prst="roundRect">
            <a:avLst>
              <a:gd name="adj" fmla="val 2830"/>
            </a:avLst>
          </a:prstGeom>
          <a:solidFill>
            <a:srgbClr val="0B2343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8745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B84D"/>
                </a:solidFill>
              </a:rPr>
              <a:t>Data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191256" y="2606040"/>
            <a:ext cx="153619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F"/>
                </a:solidFill>
              </a:rPr>
              <a:t>EDA, leakage checks, train/val/test split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48656" y="1600200"/>
            <a:ext cx="1938528" cy="3383280"/>
          </a:xfrm>
          <a:prstGeom prst="roundRect">
            <a:avLst>
              <a:gd name="adj" fmla="val 2830"/>
            </a:avLst>
          </a:prstGeom>
          <a:solidFill>
            <a:srgbClr val="0E2A4D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3248" y="18745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1D983"/>
                </a:solidFill>
              </a:rPr>
              <a:t>ML/DL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49824" y="2606040"/>
            <a:ext cx="153619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F"/>
                </a:solidFill>
              </a:rPr>
              <a:t>loss, metrics, augmentation, overfitting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07224" y="1600200"/>
            <a:ext cx="1938528" cy="3383280"/>
          </a:xfrm>
          <a:prstGeom prst="roundRect">
            <a:avLst>
              <a:gd name="adj" fmla="val 2830"/>
            </a:avLst>
          </a:prstGeom>
          <a:solidFill>
            <a:srgbClr val="0B2343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71816" y="18745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B7CFF"/>
                </a:solidFill>
              </a:rPr>
              <a:t>Deployment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08392" y="2606040"/>
            <a:ext cx="153619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F"/>
                </a:solidFill>
              </a:rPr>
              <a:t>API, Docker, config, logs, health checks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65792" y="1600200"/>
            <a:ext cx="1938528" cy="3383280"/>
          </a:xfrm>
          <a:prstGeom prst="roundRect">
            <a:avLst>
              <a:gd name="adj" fmla="val 2830"/>
            </a:avLst>
          </a:prstGeom>
          <a:solidFill>
            <a:srgbClr val="0E2A4D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30384" y="18745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8DFF"/>
                </a:solidFill>
              </a:rPr>
              <a:t>Product sense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966960" y="2606040"/>
            <a:ext cx="153619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F"/>
                </a:solidFill>
              </a:rPr>
              <a:t>Who uses it? What happens when it fails?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43000" y="56692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84D"/>
                </a:solidFill>
              </a:rPr>
              <a:t>Hiring signal: the strongest candidate show working systems, explain trade-offs and can debug failures live.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ROLE MAP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AI jobs are not one job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Pick a lane to start, then grow into adjacent skills.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0D2546"/>
          </a:solidFill>
          <a:ln w="10160">
            <a:solidFill>
              <a:srgbClr val="1E3C63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282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1D983"/>
                </a:solidFill>
              </a:rPr>
              <a:t>Data Scientist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093976"/>
            <a:ext cx="2743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FB4D1"/>
                </a:solidFill>
              </a:rPr>
              <a:t>experiments, insights, models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434840" y="150876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0D2546"/>
          </a:solidFill>
          <a:ln w="10160">
            <a:solidFill>
              <a:srgbClr val="1E3C63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7282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4D7FF"/>
                </a:solidFill>
              </a:rPr>
              <a:t>ML Engineer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17720" y="2093976"/>
            <a:ext cx="2743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FB4D1"/>
                </a:solidFill>
              </a:rPr>
              <a:t>training pipelines, serving, optimization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8138160" y="150876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0D2546"/>
          </a:solidFill>
          <a:ln w="10160">
            <a:solidFill>
              <a:srgbClr val="1E3C63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17282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B84D"/>
                </a:solidFill>
              </a:rPr>
              <a:t>MLOps Engineer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21040" y="2093976"/>
            <a:ext cx="2743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FB4D1"/>
                </a:solidFill>
              </a:rPr>
              <a:t>CI/CD, deployment, monitoring, infra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31520" y="342900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0D2546"/>
          </a:solidFill>
          <a:ln w="10160">
            <a:solidFill>
              <a:srgbClr val="1E3C63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6484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9B7CFF"/>
                </a:solidFill>
              </a:rPr>
              <a:t>AI App Engineer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14400" y="4014216"/>
            <a:ext cx="2743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FB4D1"/>
                </a:solidFill>
              </a:rPr>
              <a:t>LLM apps, agents, APIs, workflow automation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4434840" y="342900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0D2546"/>
          </a:solidFill>
          <a:ln w="10160">
            <a:solidFill>
              <a:srgbClr val="1E3C63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36484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8DFF"/>
                </a:solidFill>
              </a:rPr>
              <a:t>Data Engineer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617720" y="4014216"/>
            <a:ext cx="2743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FB4D1"/>
                </a:solidFill>
              </a:rPr>
              <a:t>data pipelines, quality, warehousing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960120" y="56692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4D7FF"/>
                </a:solidFill>
              </a:rPr>
              <a:t>For this session, the main lane is ML Engineer + MLOps basics.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LIFECYCLE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The real AI lifecycle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A model is only one component in the system.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243584" cy="658368"/>
          </a:xfrm>
          <a:prstGeom prst="chevron">
            <a:avLst/>
          </a:prstGeom>
          <a:solidFill>
            <a:srgbClr val="FFB84D">
              <a:alpha val="9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267712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E"/>
                </a:solidFill>
              </a:rPr>
              <a:t>Problem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47672" y="2057400"/>
            <a:ext cx="1243584" cy="658368"/>
          </a:xfrm>
          <a:prstGeom prst="chevron">
            <a:avLst/>
          </a:prstGeom>
          <a:solidFill>
            <a:srgbClr val="34D7FF">
              <a:alpha val="9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66544" y="2267712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E"/>
                </a:solidFill>
              </a:rPr>
              <a:t>Data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2424" y="2057400"/>
            <a:ext cx="1243584" cy="658368"/>
          </a:xfrm>
          <a:prstGeom prst="chevron">
            <a:avLst/>
          </a:prstGeom>
          <a:solidFill>
            <a:srgbClr val="31D983">
              <a:alpha val="9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1296" y="2267712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E"/>
                </a:solidFill>
              </a:rPr>
              <a:t>Train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37176" y="2057400"/>
            <a:ext cx="1243584" cy="658368"/>
          </a:xfrm>
          <a:prstGeom prst="chevron">
            <a:avLst/>
          </a:prstGeom>
          <a:solidFill>
            <a:srgbClr val="34D7FF">
              <a:alpha val="9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2267712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E"/>
                </a:solidFill>
              </a:rPr>
              <a:t>Evaluate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81928" y="2057400"/>
            <a:ext cx="1243584" cy="658368"/>
          </a:xfrm>
          <a:prstGeom prst="chevron">
            <a:avLst/>
          </a:prstGeom>
          <a:solidFill>
            <a:srgbClr val="9B7CFF">
              <a:alpha val="9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67712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E"/>
                </a:solidFill>
              </a:rPr>
              <a:t>Package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26680" y="2057400"/>
            <a:ext cx="1243584" cy="658368"/>
          </a:xfrm>
          <a:prstGeom prst="chevron">
            <a:avLst/>
          </a:prstGeom>
          <a:solidFill>
            <a:srgbClr val="4A8DFF">
              <a:alpha val="9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45552" y="2267712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E"/>
                </a:solidFill>
              </a:rPr>
              <a:t>Deploy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71432" y="2057400"/>
            <a:ext cx="1243584" cy="658368"/>
          </a:xfrm>
          <a:prstGeom prst="chevron">
            <a:avLst/>
          </a:prstGeom>
          <a:solidFill>
            <a:srgbClr val="FFB84D">
              <a:alpha val="9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0304" y="2267712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E"/>
                </a:solidFill>
              </a:rPr>
              <a:t>Monitor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616184" y="2057400"/>
            <a:ext cx="1243584" cy="658368"/>
          </a:xfrm>
          <a:prstGeom prst="chevron">
            <a:avLst/>
          </a:prstGeom>
          <a:solidFill>
            <a:srgbClr val="31D983">
              <a:alpha val="9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35056" y="2267712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72E"/>
                </a:solidFill>
              </a:rPr>
              <a:t>Improve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05840" y="3794760"/>
            <a:ext cx="1014984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4D7FF"/>
                </a:solidFill>
              </a:rPr>
              <a:t>• </a:t>
            </a:r>
            <a:r>
              <a:rPr lang="en-US" sz="1600" dirty="0">
                <a:solidFill>
                  <a:srgbClr val="EAF2FF"/>
                </a:solidFill>
              </a:rPr>
              <a:t>Training is a phase; deployment is an operating responsibility.
</a:t>
            </a:r>
            <a:r>
              <a:rPr lang="en-US" sz="1600" b="1" dirty="0">
                <a:solidFill>
                  <a:srgbClr val="34D7FF"/>
                </a:solidFill>
              </a:rPr>
              <a:t>• </a:t>
            </a:r>
            <a:r>
              <a:rPr lang="en-US" sz="1600" dirty="0">
                <a:solidFill>
                  <a:srgbClr val="EAF2FF"/>
                </a:solidFill>
              </a:rPr>
              <a:t>Data problems create most model failures: label noise, leakage, imbalance and distribution shift.
</a:t>
            </a:r>
            <a:r>
              <a:rPr lang="en-US" sz="1600" b="1" dirty="0">
                <a:solidFill>
                  <a:srgbClr val="34D7FF"/>
                </a:solidFill>
              </a:rPr>
              <a:t>• </a:t>
            </a:r>
            <a:r>
              <a:rPr lang="en-US" sz="1600" dirty="0">
                <a:solidFill>
                  <a:srgbClr val="EAF2FF"/>
                </a:solidFill>
              </a:rPr>
              <a:t>Monitoring must cover latency, errors, input drift, model confidence and business impact.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tech_industrial_industrial_automation_scen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7172E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EXAMPLE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94360" y="822960"/>
            <a:ext cx="4800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</a:rPr>
              <a:t>Example problem: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</a:rPr>
              <a:t>Image defect detection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475488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34D7FF"/>
                </a:solidFill>
              </a:rPr>
              <a:t>• </a:t>
            </a:r>
            <a:r>
              <a:rPr lang="en-US" sz="1450" dirty="0">
                <a:solidFill>
                  <a:srgbClr val="EAF2FF"/>
                </a:solidFill>
              </a:rPr>
              <a:t>Input: image from camera / user upload
</a:t>
            </a:r>
            <a:r>
              <a:rPr lang="en-US" sz="1450" b="1" dirty="0">
                <a:solidFill>
                  <a:srgbClr val="34D7FF"/>
                </a:solidFill>
              </a:rPr>
              <a:t>• </a:t>
            </a:r>
            <a:r>
              <a:rPr lang="en-US" sz="1450" dirty="0">
                <a:solidFill>
                  <a:srgbClr val="EAF2FF"/>
                </a:solidFill>
              </a:rPr>
              <a:t>Output: OK / Defective + confidence
</a:t>
            </a:r>
            <a:r>
              <a:rPr lang="en-US" sz="1450" b="1" dirty="0">
                <a:solidFill>
                  <a:srgbClr val="34D7FF"/>
                </a:solidFill>
              </a:rPr>
              <a:t>• </a:t>
            </a:r>
            <a:r>
              <a:rPr lang="en-US" sz="1450" dirty="0">
                <a:solidFill>
                  <a:srgbClr val="EAF2FF"/>
                </a:solidFill>
              </a:rPr>
              <a:t>Business goal: reduce manual inspection effort
</a:t>
            </a:r>
            <a:r>
              <a:rPr lang="en-US" sz="1450" b="1" dirty="0">
                <a:solidFill>
                  <a:srgbClr val="34D7FF"/>
                </a:solidFill>
              </a:rPr>
              <a:t>• </a:t>
            </a:r>
            <a:r>
              <a:rPr lang="en-US" sz="1450" dirty="0">
                <a:solidFill>
                  <a:srgbClr val="EAF2FF"/>
                </a:solidFill>
              </a:rPr>
              <a:t>Risk: false OK can ship a bad product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85800" y="4983480"/>
            <a:ext cx="4709160" cy="731520"/>
          </a:xfrm>
          <a:prstGeom prst="roundRect">
            <a:avLst>
              <a:gd name="adj" fmla="val 7500"/>
            </a:avLst>
          </a:prstGeom>
          <a:solidFill>
            <a:srgbClr val="07172E">
              <a:alpha val="97000"/>
            </a:srgbClr>
          </a:solidFill>
          <a:ln w="10160">
            <a:solidFill>
              <a:srgbClr val="FFB8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52303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B84D"/>
                </a:solidFill>
              </a:rPr>
              <a:t>Teaching choice: use a small dataset and simple CNN/transfer learning so deployment remains the focus.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GAP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Why notebook accuracy is not production readiness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This is where many student projects fail.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1417320"/>
            <a:ext cx="5074920" cy="4114800"/>
          </a:xfrm>
          <a:prstGeom prst="roundRect">
            <a:avLst>
              <a:gd name="adj" fmla="val 1333"/>
            </a:avLst>
          </a:prstGeom>
          <a:solidFill>
            <a:srgbClr val="2A1220"/>
          </a:solidFill>
          <a:ln w="1016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1907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6B6B"/>
                </a:solidFill>
              </a:rPr>
              <a:t>Notebook demo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438912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F6B6B"/>
                </a:solidFill>
              </a:rPr>
              <a:t>• </a:t>
            </a:r>
            <a:r>
              <a:rPr lang="en-US" sz="1320" dirty="0">
                <a:solidFill>
                  <a:srgbClr val="EAF2FF"/>
                </a:solidFill>
              </a:rPr>
              <a:t>Runs only on my laptop
</a:t>
            </a:r>
            <a:r>
              <a:rPr lang="en-US" sz="1320" b="1" dirty="0">
                <a:solidFill>
                  <a:srgbClr val="FF6B6B"/>
                </a:solidFill>
              </a:rPr>
              <a:t>• </a:t>
            </a:r>
            <a:r>
              <a:rPr lang="en-US" sz="1320" dirty="0">
                <a:solidFill>
                  <a:srgbClr val="EAF2FF"/>
                </a:solidFill>
              </a:rPr>
              <a:t>No API or repeatable environment
</a:t>
            </a:r>
            <a:r>
              <a:rPr lang="en-US" sz="1320" b="1" dirty="0">
                <a:solidFill>
                  <a:srgbClr val="FF6B6B"/>
                </a:solidFill>
              </a:rPr>
              <a:t>• </a:t>
            </a:r>
            <a:r>
              <a:rPr lang="en-US" sz="1320" dirty="0">
                <a:solidFill>
                  <a:srgbClr val="EAF2FF"/>
                </a:solidFill>
              </a:rPr>
              <a:t>No input validation
</a:t>
            </a:r>
            <a:r>
              <a:rPr lang="en-US" sz="1320" b="1" dirty="0">
                <a:solidFill>
                  <a:srgbClr val="FF6B6B"/>
                </a:solidFill>
              </a:rPr>
              <a:t>• </a:t>
            </a:r>
            <a:r>
              <a:rPr lang="en-US" sz="1320" dirty="0">
                <a:solidFill>
                  <a:srgbClr val="EAF2FF"/>
                </a:solidFill>
              </a:rPr>
              <a:t>No versioned data/model
</a:t>
            </a:r>
            <a:r>
              <a:rPr lang="en-US" sz="1320" b="1" dirty="0">
                <a:solidFill>
                  <a:srgbClr val="FF6B6B"/>
                </a:solidFill>
              </a:rPr>
              <a:t>• </a:t>
            </a:r>
            <a:r>
              <a:rPr lang="en-US" sz="1320" dirty="0">
                <a:solidFill>
                  <a:srgbClr val="EAF2FF"/>
                </a:solidFill>
              </a:rPr>
              <a:t>No error handling/logs
</a:t>
            </a:r>
            <a:r>
              <a:rPr lang="en-US" sz="1320" b="1" dirty="0">
                <a:solidFill>
                  <a:srgbClr val="FF6B6B"/>
                </a:solidFill>
              </a:rPr>
              <a:t>• </a:t>
            </a:r>
            <a:r>
              <a:rPr lang="en-US" sz="1320" dirty="0">
                <a:solidFill>
                  <a:srgbClr val="EAF2FF"/>
                </a:solidFill>
              </a:rPr>
              <a:t>No monitoring after deployment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5074920" cy="4114800"/>
          </a:xfrm>
          <a:prstGeom prst="roundRect">
            <a:avLst>
              <a:gd name="adj" fmla="val 1333"/>
            </a:avLst>
          </a:prstGeom>
          <a:solidFill>
            <a:srgbClr val="092D2B"/>
          </a:solidFill>
          <a:ln w="10160">
            <a:solidFill>
              <a:srgbClr val="31D9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71907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1D983"/>
                </a:solidFill>
              </a:rPr>
              <a:t>Production-ready mini project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84848" y="2331720"/>
            <a:ext cx="438912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31D983"/>
                </a:solidFill>
              </a:rPr>
              <a:t>• </a:t>
            </a:r>
            <a:r>
              <a:rPr lang="en-US" sz="1320" dirty="0">
                <a:solidFill>
                  <a:srgbClr val="EAF2FF"/>
                </a:solidFill>
              </a:rPr>
              <a:t>Reproducible training and inference
</a:t>
            </a:r>
            <a:r>
              <a:rPr lang="en-US" sz="1320" b="1" dirty="0">
                <a:solidFill>
                  <a:srgbClr val="31D983"/>
                </a:solidFill>
              </a:rPr>
              <a:t>• </a:t>
            </a:r>
            <a:r>
              <a:rPr lang="en-US" sz="1320" dirty="0">
                <a:solidFill>
                  <a:srgbClr val="EAF2FF"/>
                </a:solidFill>
              </a:rPr>
              <a:t>API endpoint with health check
</a:t>
            </a:r>
            <a:r>
              <a:rPr lang="en-US" sz="1320" b="1" dirty="0">
                <a:solidFill>
                  <a:srgbClr val="31D983"/>
                </a:solidFill>
              </a:rPr>
              <a:t>• </a:t>
            </a:r>
            <a:r>
              <a:rPr lang="en-US" sz="1320" dirty="0">
                <a:solidFill>
                  <a:srgbClr val="EAF2FF"/>
                </a:solidFill>
              </a:rPr>
              <a:t>Docker image and config
</a:t>
            </a:r>
            <a:r>
              <a:rPr lang="en-US" sz="1320" b="1" dirty="0">
                <a:solidFill>
                  <a:srgbClr val="31D983"/>
                </a:solidFill>
              </a:rPr>
              <a:t>• </a:t>
            </a:r>
            <a:r>
              <a:rPr lang="en-US" sz="1320" dirty="0">
                <a:solidFill>
                  <a:srgbClr val="EAF2FF"/>
                </a:solidFill>
              </a:rPr>
              <a:t>Metrics: latency, error rate, confidence
</a:t>
            </a:r>
            <a:r>
              <a:rPr lang="en-US" sz="1320" b="1" dirty="0">
                <a:solidFill>
                  <a:srgbClr val="31D983"/>
                </a:solidFill>
              </a:rPr>
              <a:t>• </a:t>
            </a:r>
            <a:r>
              <a:rPr lang="en-US" sz="1320" dirty="0">
                <a:solidFill>
                  <a:srgbClr val="EAF2FF"/>
                </a:solidFill>
              </a:rPr>
              <a:t>Basic CI/CD or deployment script
</a:t>
            </a:r>
            <a:r>
              <a:rPr lang="en-US" sz="1320" b="1" dirty="0">
                <a:solidFill>
                  <a:srgbClr val="31D983"/>
                </a:solidFill>
              </a:rPr>
              <a:t>• </a:t>
            </a:r>
            <a:r>
              <a:rPr lang="en-US" sz="1320" dirty="0">
                <a:solidFill>
                  <a:srgbClr val="EAF2FF"/>
                </a:solidFill>
              </a:rPr>
              <a:t>Rollback and retraining plan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5989320" y="3429000"/>
            <a:ext cx="292608" cy="0"/>
          </a:xfrm>
          <a:prstGeom prst="line">
            <a:avLst/>
          </a:prstGeom>
          <a:noFill/>
          <a:ln w="25400">
            <a:solidFill>
              <a:srgbClr val="34D7F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verview of the MLOps Lifecycle: From Data Collection to Model Monitoring |  by Tech &amp; Tales | Stackademic">
            <a:extLst>
              <a:ext uri="{FF2B5EF4-FFF2-40B4-BE49-F238E27FC236}">
                <a16:creationId xmlns:a16="http://schemas.microsoft.com/office/drawing/2014/main" id="{EE74209B-E2E1-2C76-7256-70D96AD98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52413"/>
            <a:ext cx="11772900" cy="63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065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MLOPS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MLOps in one slide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MLOps is not a tool. It is discipline around repeatability, deployment and operations.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1755648" cy="3017520"/>
          </a:xfrm>
          <a:prstGeom prst="roundRect">
            <a:avLst>
              <a:gd name="adj" fmla="val 3125"/>
            </a:avLst>
          </a:prstGeom>
          <a:solidFill>
            <a:srgbClr val="0A213F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848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7FF"/>
                </a:solidFill>
              </a:rPr>
              <a:t>Version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8136" y="2788920"/>
            <a:ext cx="131673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9FB4D1"/>
                </a:solidFill>
              </a:rPr>
              <a:t>Code, data, model, config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3063240" y="1737360"/>
            <a:ext cx="1755648" cy="3017520"/>
          </a:xfrm>
          <a:prstGeom prst="roundRect">
            <a:avLst>
              <a:gd name="adj" fmla="val 3125"/>
            </a:avLst>
          </a:prstGeom>
          <a:solidFill>
            <a:srgbClr val="0A213F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0848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D983"/>
                </a:solidFill>
              </a:rPr>
              <a:t>Automate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82696" y="2788920"/>
            <a:ext cx="131673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9FB4D1"/>
                </a:solidFill>
              </a:rPr>
              <a:t>Training, tests, packaging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257800" y="1737360"/>
            <a:ext cx="1755648" cy="3017520"/>
          </a:xfrm>
          <a:prstGeom prst="roundRect">
            <a:avLst>
              <a:gd name="adj" fmla="val 3125"/>
            </a:avLst>
          </a:prstGeom>
          <a:solidFill>
            <a:srgbClr val="0A213F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20848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84D"/>
                </a:solidFill>
              </a:rPr>
              <a:t>Serve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77256" y="2788920"/>
            <a:ext cx="131673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9FB4D1"/>
                </a:solidFill>
              </a:rPr>
              <a:t>API/batch/edge endpoint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7452360" y="1737360"/>
            <a:ext cx="1755648" cy="3017520"/>
          </a:xfrm>
          <a:prstGeom prst="roundRect">
            <a:avLst>
              <a:gd name="adj" fmla="val 3125"/>
            </a:avLst>
          </a:prstGeom>
          <a:solidFill>
            <a:srgbClr val="0A213F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20848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8DFF"/>
                </a:solidFill>
              </a:rPr>
              <a:t>Observe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71816" y="2788920"/>
            <a:ext cx="131673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9FB4D1"/>
                </a:solidFill>
              </a:rPr>
              <a:t>Logs, metrics, drift, feedback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9646920" y="1737360"/>
            <a:ext cx="1755648" cy="3017520"/>
          </a:xfrm>
          <a:prstGeom prst="roundRect">
            <a:avLst>
              <a:gd name="adj" fmla="val 3125"/>
            </a:avLst>
          </a:prstGeom>
          <a:solidFill>
            <a:srgbClr val="0A213F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0" y="20848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B7CFF"/>
                </a:solidFill>
              </a:rPr>
              <a:t>Govern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66376" y="2788920"/>
            <a:ext cx="131673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9FB4D1"/>
                </a:solidFill>
              </a:rPr>
              <a:t>Security, privacy, rollback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1143000" y="557784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84D"/>
                </a:solidFill>
              </a:rPr>
              <a:t>Simple rule: every ML project should be reproducible, testable, deployable and observable.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2026 TREND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Recent industry trend: AI skills are moving toward execution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The buzzword is less important than the system you can build.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0332720" cy="530352"/>
          </a:xfrm>
          <a:prstGeom prst="roundRect">
            <a:avLst>
              <a:gd name="adj" fmla="val 10345"/>
            </a:avLst>
          </a:prstGeom>
          <a:solidFill>
            <a:srgbClr val="0E2A4D"/>
          </a:solidFill>
          <a:ln w="10160">
            <a:solidFill>
              <a:srgbClr val="2446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" y="148132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FB84D"/>
                </a:solidFill>
              </a:rPr>
              <a:t>Foundation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2834640" y="146304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2FF"/>
                </a:solidFill>
              </a:rPr>
              <a:t>Python, SQL, Git, Linux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2148840"/>
            <a:ext cx="10332720" cy="530352"/>
          </a:xfrm>
          <a:prstGeom prst="roundRect">
            <a:avLst>
              <a:gd name="adj" fmla="val 10345"/>
            </a:avLst>
          </a:prstGeom>
          <a:solidFill>
            <a:srgbClr val="0B2443"/>
          </a:solidFill>
          <a:ln w="10160">
            <a:solidFill>
              <a:srgbClr val="2446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230428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34D7FF"/>
                </a:solidFill>
              </a:rPr>
              <a:t>ML stack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834640" y="228600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2FF"/>
                </a:solidFill>
              </a:rPr>
              <a:t>PyTorch/TensorFlow, sklearn, CV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2971800"/>
            <a:ext cx="10332720" cy="530352"/>
          </a:xfrm>
          <a:prstGeom prst="roundRect">
            <a:avLst>
              <a:gd name="adj" fmla="val 10345"/>
            </a:avLst>
          </a:prstGeom>
          <a:solidFill>
            <a:srgbClr val="0E2A4D"/>
          </a:solidFill>
          <a:ln w="10160">
            <a:solidFill>
              <a:srgbClr val="2446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312724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31D983"/>
                </a:solidFill>
              </a:rPr>
              <a:t>Deployment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834640" y="310896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2FF"/>
                </a:solidFill>
              </a:rPr>
              <a:t>FastAPI, Docker, REST, cloud/K8s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3794760"/>
            <a:ext cx="10332720" cy="530352"/>
          </a:xfrm>
          <a:prstGeom prst="roundRect">
            <a:avLst>
              <a:gd name="adj" fmla="val 10345"/>
            </a:avLst>
          </a:prstGeom>
          <a:solidFill>
            <a:srgbClr val="0B2443"/>
          </a:solidFill>
          <a:ln w="10160">
            <a:solidFill>
              <a:srgbClr val="2446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395020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9B7CFF"/>
                </a:solidFill>
              </a:rPr>
              <a:t>Operations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2834640" y="393192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2FF"/>
                </a:solidFill>
              </a:rPr>
              <a:t>logging, metrics, monitoring, incidents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4617720"/>
            <a:ext cx="10332720" cy="530352"/>
          </a:xfrm>
          <a:prstGeom prst="roundRect">
            <a:avLst>
              <a:gd name="adj" fmla="val 10345"/>
            </a:avLst>
          </a:prstGeom>
          <a:solidFill>
            <a:srgbClr val="0E2A4D"/>
          </a:solidFill>
          <a:ln w="10160">
            <a:solidFill>
              <a:srgbClr val="2446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144" y="477316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4A8DFF"/>
                </a:solidFill>
              </a:rPr>
              <a:t>Modern AI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2834640" y="47548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2FF"/>
                </a:solidFill>
              </a:rPr>
              <a:t>LLMOps, agents, RAG, workflow automation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580644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4D1"/>
                </a:solidFill>
              </a:rPr>
              <a:t>LinkedIn India flags AI &amp; Automation skills such as Prompt Engineering, Workflow Automation, LLMOps, AutoML and APIs as fast-growing.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30352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6F86A9"/>
                </a:solidFill>
              </a:rPr>
              <a:t>Sources: LinkedIn Skills on the Rise 2026 India; Lightcast/Stanford AI Index 2026.</a:t>
            </a:r>
            <a:endParaRPr lang="en-US" sz="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ROADMAP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AF2FF"/>
                </a:solidFill>
              </a:rPr>
              <a:t>A realistic 6-month AI job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4251960"/>
            <a:ext cx="10789920" cy="1737360"/>
          </a:xfrm>
          <a:prstGeom prst="roundRect">
            <a:avLst>
              <a:gd name="adj" fmla="val 3158"/>
            </a:avLst>
          </a:prstGeom>
          <a:solidFill>
            <a:srgbClr val="07172E"/>
          </a:solidFill>
          <a:ln w="10160">
            <a:solidFill>
              <a:srgbClr val="2945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6118" y="5001768"/>
            <a:ext cx="146304" cy="146304"/>
          </a:xfrm>
          <a:prstGeom prst="arc">
            <a:avLst/>
          </a:prstGeom>
          <a:noFill/>
          <a:ln w="15240">
            <a:solidFill>
              <a:srgbClr val="34D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79270" y="5102352"/>
            <a:ext cx="1748028" cy="0"/>
          </a:xfrm>
          <a:prstGeom prst="line">
            <a:avLst/>
          </a:prstGeom>
          <a:noFill/>
          <a:ln w="12700">
            <a:solidFill>
              <a:srgbClr val="2956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498848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EAF2FF"/>
                </a:solidFill>
              </a:rPr>
              <a:t>Month 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960120" y="5248656"/>
            <a:ext cx="16383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FB4D1"/>
                </a:solidFill>
              </a:rPr>
              <a:t>Python + Git + Linux basics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3454146" y="5001768"/>
            <a:ext cx="146304" cy="146304"/>
          </a:xfrm>
          <a:prstGeom prst="arc">
            <a:avLst/>
          </a:prstGeom>
          <a:noFill/>
          <a:ln w="15240">
            <a:solidFill>
              <a:srgbClr val="34D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7298" y="5102352"/>
            <a:ext cx="1748028" cy="0"/>
          </a:xfrm>
          <a:prstGeom prst="line">
            <a:avLst/>
          </a:prstGeom>
          <a:noFill/>
          <a:ln w="12700">
            <a:solidFill>
              <a:srgbClr val="2956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8148" y="4498848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EAF2FF"/>
                </a:solidFill>
              </a:rPr>
              <a:t>Month 2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708148" y="5248656"/>
            <a:ext cx="16383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FB4D1"/>
                </a:solidFill>
              </a:rPr>
              <a:t>ML fundamentals + metrics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202174" y="5001768"/>
            <a:ext cx="146304" cy="146304"/>
          </a:xfrm>
          <a:prstGeom prst="arc">
            <a:avLst/>
          </a:prstGeom>
          <a:noFill/>
          <a:ln w="15240">
            <a:solidFill>
              <a:srgbClr val="34D7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75326" y="5102352"/>
            <a:ext cx="1748028" cy="0"/>
          </a:xfrm>
          <a:prstGeom prst="line">
            <a:avLst/>
          </a:prstGeom>
          <a:noFill/>
          <a:ln w="12700">
            <a:solidFill>
              <a:srgbClr val="2956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6176" y="4498848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EAF2FF"/>
                </a:solidFill>
              </a:rPr>
              <a:t>Month 3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456176" y="5248656"/>
            <a:ext cx="16383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FB4D1"/>
                </a:solidFill>
              </a:rPr>
              <a:t>Deep learning + image project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950202" y="5001768"/>
            <a:ext cx="146304" cy="146304"/>
          </a:xfrm>
          <a:prstGeom prst="arc">
            <a:avLst/>
          </a:prstGeom>
          <a:noFill/>
          <a:ln w="15240">
            <a:solidFill>
              <a:srgbClr val="34D7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23354" y="5102352"/>
            <a:ext cx="1748028" cy="0"/>
          </a:xfrm>
          <a:prstGeom prst="line">
            <a:avLst/>
          </a:prstGeom>
          <a:noFill/>
          <a:ln w="12700">
            <a:solidFill>
              <a:srgbClr val="2956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4204" y="4498848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EAF2FF"/>
                </a:solidFill>
              </a:rPr>
              <a:t>Month 4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204204" y="5248656"/>
            <a:ext cx="16383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FB4D1"/>
                </a:solidFill>
              </a:rPr>
              <a:t>FastAPI + Docker deployment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8698230" y="5001768"/>
            <a:ext cx="146304" cy="146304"/>
          </a:xfrm>
          <a:prstGeom prst="arc">
            <a:avLst/>
          </a:prstGeom>
          <a:noFill/>
          <a:ln w="15240">
            <a:solidFill>
              <a:srgbClr val="34D7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1382" y="5102352"/>
            <a:ext cx="1748028" cy="0"/>
          </a:xfrm>
          <a:prstGeom prst="line">
            <a:avLst/>
          </a:prstGeom>
          <a:noFill/>
          <a:ln w="12700">
            <a:solidFill>
              <a:srgbClr val="2956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2232" y="4498848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EAF2FF"/>
                </a:solidFill>
              </a:rPr>
              <a:t>Month 5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952232" y="5248656"/>
            <a:ext cx="16383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FB4D1"/>
                </a:solidFill>
              </a:rPr>
              <a:t>Monitoring + error handling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0446258" y="5001768"/>
            <a:ext cx="146304" cy="146304"/>
          </a:xfrm>
          <a:prstGeom prst="arc">
            <a:avLst/>
          </a:prstGeom>
          <a:noFill/>
          <a:ln w="15240">
            <a:solidFill>
              <a:srgbClr val="34D7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9410" y="5102352"/>
            <a:ext cx="0" cy="0"/>
          </a:xfrm>
          <a:prstGeom prst="line">
            <a:avLst/>
          </a:prstGeom>
          <a:noFill/>
          <a:ln w="12700">
            <a:solidFill>
              <a:srgbClr val="2956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00260" y="4498848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EAF2FF"/>
                </a:solidFill>
              </a:rPr>
              <a:t>Month 6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700260" y="5248656"/>
            <a:ext cx="16383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FB4D1"/>
                </a:solidFill>
              </a:rPr>
              <a:t>Portfolio + mock interviews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PORTFOLIO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What a strong student project must prove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A deployed small project beats a large unreadable notebook.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389888"/>
            <a:ext cx="10652760" cy="530352"/>
          </a:xfrm>
          <a:prstGeom prst="roundRect">
            <a:avLst>
              <a:gd name="adj" fmla="val 8621"/>
            </a:avLst>
          </a:prstGeom>
          <a:solidFill>
            <a:srgbClr val="0C2546"/>
          </a:solidFill>
          <a:ln w="12700">
            <a:solidFill>
              <a:srgbClr val="2446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3619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7FF"/>
                </a:solidFill>
              </a:rPr>
              <a:t>README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88920" y="1536192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2FF"/>
                </a:solidFill>
              </a:rPr>
              <a:t>problem, dataset, setup, architecture, results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231136"/>
            <a:ext cx="10652760" cy="530352"/>
          </a:xfrm>
          <a:prstGeom prst="roundRect">
            <a:avLst>
              <a:gd name="adj" fmla="val 8621"/>
            </a:avLst>
          </a:prstGeom>
          <a:solidFill>
            <a:srgbClr val="0C2546"/>
          </a:solidFill>
          <a:ln w="12700">
            <a:solidFill>
              <a:srgbClr val="2446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7744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7FF"/>
                </a:solidFill>
              </a:rPr>
              <a:t>Code quality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88920" y="237744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2FF"/>
                </a:solidFill>
              </a:rPr>
              <a:t>config file, functions, type hints, folder structure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072384"/>
            <a:ext cx="10652760" cy="530352"/>
          </a:xfrm>
          <a:prstGeom prst="roundRect">
            <a:avLst>
              <a:gd name="adj" fmla="val 8621"/>
            </a:avLst>
          </a:prstGeom>
          <a:solidFill>
            <a:srgbClr val="0C2546"/>
          </a:solidFill>
          <a:ln w="12700">
            <a:solidFill>
              <a:srgbClr val="2446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2186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7FF"/>
                </a:solidFill>
              </a:rPr>
              <a:t>Evidence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88920" y="3218688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2FF"/>
                </a:solidFill>
              </a:rPr>
              <a:t>metrics, screenshots, API sample request/response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913632"/>
            <a:ext cx="10652760" cy="530352"/>
          </a:xfrm>
          <a:prstGeom prst="roundRect">
            <a:avLst>
              <a:gd name="adj" fmla="val 8621"/>
            </a:avLst>
          </a:prstGeom>
          <a:solidFill>
            <a:srgbClr val="0C2546"/>
          </a:solidFill>
          <a:ln w="12700">
            <a:solidFill>
              <a:srgbClr val="2446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05993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7FF"/>
                </a:solidFill>
              </a:rPr>
              <a:t>Deployment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88920" y="4059936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2FF"/>
                </a:solidFill>
              </a:rPr>
              <a:t>Dockerfile, run command, health endpoint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754880"/>
            <a:ext cx="10652760" cy="530352"/>
          </a:xfrm>
          <a:prstGeom prst="roundRect">
            <a:avLst>
              <a:gd name="adj" fmla="val 8621"/>
            </a:avLst>
          </a:prstGeom>
          <a:solidFill>
            <a:srgbClr val="0C2546"/>
          </a:solidFill>
          <a:ln w="12700">
            <a:solidFill>
              <a:srgbClr val="2446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90118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7FF"/>
                </a:solidFill>
              </a:rPr>
              <a:t>Reflection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88920" y="4901184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2FF"/>
                </a:solidFill>
              </a:rPr>
              <a:t>limitations, failure cases, next improvements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828800" y="5806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B84D"/>
                </a:solidFill>
              </a:rPr>
              <a:t>Do not fake complexity. Show clean execution.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futuristic_isometric_3d_vector_illustrati.png"/>
          <p:cNvPicPr>
            <a:picLocks noChangeAspect="1"/>
          </p:cNvPicPr>
          <p:nvPr/>
        </p:nvPicPr>
        <p:blipFill>
          <a:blip r:embed="rId3"/>
          <a:srcRect l="26239" r="26239"/>
          <a:stretch/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0080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34D7FF">
              <a:alpha val="90000"/>
            </a:srgbClr>
          </a:solidFill>
          <a:ln w="12700">
            <a:solidFill>
              <a:srgbClr val="34D7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71323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7172E"/>
                </a:solidFill>
              </a:rPr>
              <a:t>PART 2: HANDS-ON</a:t>
            </a:r>
            <a:endParaRPr lang="en-US" sz="820" dirty="0"/>
          </a:p>
        </p:txBody>
      </p:sp>
      <p:sp>
        <p:nvSpPr>
          <p:cNvPr id="5" name="Text 2"/>
          <p:cNvSpPr/>
          <p:nvPr/>
        </p:nvSpPr>
        <p:spPr>
          <a:xfrm>
            <a:off x="594360" y="1170432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EAF2FF"/>
                </a:solidFill>
              </a:rPr>
              <a:t>Build an image model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EAF2FF"/>
                </a:solidFill>
              </a:rPr>
              <a:t>and deploy it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13232" y="2880360"/>
            <a:ext cx="534924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34D7FF"/>
                </a:solidFill>
              </a:rPr>
              <a:t>• </a:t>
            </a:r>
            <a:r>
              <a:rPr lang="en-US" sz="1550" dirty="0">
                <a:solidFill>
                  <a:srgbClr val="EAF2FF"/>
                </a:solidFill>
              </a:rPr>
              <a:t>Train a simple classifier
</a:t>
            </a:r>
            <a:r>
              <a:rPr lang="en-US" sz="1550" b="1" dirty="0">
                <a:solidFill>
                  <a:srgbClr val="34D7FF"/>
                </a:solidFill>
              </a:rPr>
              <a:t>• </a:t>
            </a:r>
            <a:r>
              <a:rPr lang="en-US" sz="1550" dirty="0">
                <a:solidFill>
                  <a:srgbClr val="EAF2FF"/>
                </a:solidFill>
              </a:rPr>
              <a:t>Save model artifact
</a:t>
            </a:r>
            <a:r>
              <a:rPr lang="en-US" sz="1550" b="1" dirty="0">
                <a:solidFill>
                  <a:srgbClr val="34D7FF"/>
                </a:solidFill>
              </a:rPr>
              <a:t>• </a:t>
            </a:r>
            <a:r>
              <a:rPr lang="en-US" sz="1550" dirty="0">
                <a:solidFill>
                  <a:srgbClr val="EAF2FF"/>
                </a:solidFill>
              </a:rPr>
              <a:t>Serve inference through FastAPI
</a:t>
            </a:r>
            <a:r>
              <a:rPr lang="en-US" sz="1550" b="1" dirty="0">
                <a:solidFill>
                  <a:srgbClr val="34D7FF"/>
                </a:solidFill>
              </a:rPr>
              <a:t>• </a:t>
            </a:r>
            <a:r>
              <a:rPr lang="en-US" sz="1550" dirty="0">
                <a:solidFill>
                  <a:srgbClr val="EAF2FF"/>
                </a:solidFill>
              </a:rPr>
              <a:t>Package in Docker
</a:t>
            </a:r>
            <a:r>
              <a:rPr lang="en-US" sz="1550" b="1" dirty="0">
                <a:solidFill>
                  <a:srgbClr val="34D7FF"/>
                </a:solidFill>
              </a:rPr>
              <a:t>• </a:t>
            </a:r>
            <a:r>
              <a:rPr lang="en-US" sz="1550" dirty="0">
                <a:solidFill>
                  <a:srgbClr val="EAF2FF"/>
                </a:solidFill>
              </a:rPr>
              <a:t>Deploy locally or on Kubernetes
</a:t>
            </a:r>
            <a:r>
              <a:rPr lang="en-US" sz="1550" b="1" dirty="0">
                <a:solidFill>
                  <a:srgbClr val="34D7FF"/>
                </a:solidFill>
              </a:rPr>
              <a:t>• </a:t>
            </a:r>
            <a:r>
              <a:rPr lang="en-US" sz="1550" dirty="0">
                <a:solidFill>
                  <a:srgbClr val="EAF2FF"/>
                </a:solidFill>
              </a:rPr>
              <a:t>Add basic logs and monitoring checks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Hands-on target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Use this as the mental map while coding.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344168" cy="1143000"/>
          </a:xfrm>
          <a:prstGeom prst="roundRect">
            <a:avLst>
              <a:gd name="adj" fmla="val 4800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7627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B84D"/>
                </a:solidFill>
              </a:rPr>
              <a:t>Dataset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76656" y="2514600"/>
            <a:ext cx="10881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FB4D1"/>
                </a:solidFill>
              </a:rPr>
              <a:t>images + labels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1920240" y="2487168"/>
            <a:ext cx="256032" cy="0"/>
          </a:xfrm>
          <a:prstGeom prst="line">
            <a:avLst/>
          </a:prstGeom>
          <a:noFill/>
          <a:ln w="15240">
            <a:solidFill>
              <a:srgbClr val="34D7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12848" y="1920240"/>
            <a:ext cx="1344168" cy="1143000"/>
          </a:xfrm>
          <a:prstGeom prst="roundRect">
            <a:avLst>
              <a:gd name="adj" fmla="val 4800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4288" y="217627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1D983"/>
                </a:solidFill>
              </a:rPr>
              <a:t>Training script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340864" y="2514600"/>
            <a:ext cx="10881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FB4D1"/>
                </a:solidFill>
              </a:rPr>
              <a:t>augment + train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3584448" y="2487168"/>
            <a:ext cx="256032" cy="0"/>
          </a:xfrm>
          <a:prstGeom prst="line">
            <a:avLst/>
          </a:prstGeom>
          <a:noFill/>
          <a:ln w="15240">
            <a:solidFill>
              <a:srgbClr val="34D7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77056" y="1920240"/>
            <a:ext cx="1344168" cy="1143000"/>
          </a:xfrm>
          <a:prstGeom prst="roundRect">
            <a:avLst>
              <a:gd name="adj" fmla="val 4800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68496" y="217627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4D7FF"/>
                </a:solidFill>
              </a:rPr>
              <a:t>Model file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005072" y="2514600"/>
            <a:ext cx="10881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FB4D1"/>
                </a:solidFill>
              </a:rPr>
              <a:t>model.pt / .h5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5248656" y="2487168"/>
            <a:ext cx="256032" cy="0"/>
          </a:xfrm>
          <a:prstGeom prst="line">
            <a:avLst/>
          </a:prstGeom>
          <a:noFill/>
          <a:ln w="15240">
            <a:solidFill>
              <a:srgbClr val="34D7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41264" y="1920240"/>
            <a:ext cx="1344168" cy="1143000"/>
          </a:xfrm>
          <a:prstGeom prst="roundRect">
            <a:avLst>
              <a:gd name="adj" fmla="val 4800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32704" y="217627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9B7CFF"/>
                </a:solidFill>
              </a:rPr>
              <a:t>FastAPI app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669280" y="2514600"/>
            <a:ext cx="10881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FB4D1"/>
                </a:solidFill>
              </a:rPr>
              <a:t>/predict + /health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912864" y="2487168"/>
            <a:ext cx="256032" cy="0"/>
          </a:xfrm>
          <a:prstGeom prst="line">
            <a:avLst/>
          </a:prstGeom>
          <a:noFill/>
          <a:ln w="15240">
            <a:solidFill>
              <a:srgbClr val="34D7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05472" y="1920240"/>
            <a:ext cx="1344168" cy="1143000"/>
          </a:xfrm>
          <a:prstGeom prst="roundRect">
            <a:avLst>
              <a:gd name="adj" fmla="val 4800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217627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4A8DFF"/>
                </a:solidFill>
              </a:rPr>
              <a:t>Docker image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333488" y="2514600"/>
            <a:ext cx="10881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FB4D1"/>
                </a:solidFill>
              </a:rPr>
              <a:t>portable runtime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8577072" y="2487168"/>
            <a:ext cx="256032" cy="0"/>
          </a:xfrm>
          <a:prstGeom prst="line">
            <a:avLst/>
          </a:prstGeom>
          <a:noFill/>
          <a:ln w="15240">
            <a:solidFill>
              <a:srgbClr val="34D7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869680" y="1920240"/>
            <a:ext cx="1344168" cy="1143000"/>
          </a:xfrm>
          <a:prstGeom prst="roundRect">
            <a:avLst>
              <a:gd name="adj" fmla="val 4800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217627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B84D"/>
                </a:solidFill>
              </a:rPr>
              <a:t>Deployment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8997696" y="2514600"/>
            <a:ext cx="10881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FB4D1"/>
                </a:solidFill>
              </a:rPr>
              <a:t>local/K8s/cloud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10241280" y="2487168"/>
            <a:ext cx="256032" cy="0"/>
          </a:xfrm>
          <a:prstGeom prst="line">
            <a:avLst/>
          </a:prstGeom>
          <a:noFill/>
          <a:ln w="15240">
            <a:solidFill>
              <a:srgbClr val="34D7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533888" y="1920240"/>
            <a:ext cx="1344168" cy="1143000"/>
          </a:xfrm>
          <a:prstGeom prst="roundRect">
            <a:avLst>
              <a:gd name="adj" fmla="val 4800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25328" y="217627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1D983"/>
                </a:solidFill>
              </a:rPr>
              <a:t>Monitoring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10661904" y="2514600"/>
            <a:ext cx="10881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FB4D1"/>
                </a:solidFill>
              </a:rPr>
              <a:t>logs + metrics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1097280" y="4160520"/>
            <a:ext cx="100584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4D7FF"/>
                </a:solidFill>
              </a:rPr>
              <a:t>• </a:t>
            </a:r>
            <a:r>
              <a:rPr lang="en-US" sz="1600" dirty="0">
                <a:solidFill>
                  <a:srgbClr val="EAF2FF"/>
                </a:solidFill>
              </a:rPr>
              <a:t>Students should understand inputs, outputs and failure points at every stage.
</a:t>
            </a:r>
            <a:r>
              <a:rPr lang="en-US" sz="1600" b="1" dirty="0">
                <a:solidFill>
                  <a:srgbClr val="34D7FF"/>
                </a:solidFill>
              </a:rPr>
              <a:t>• </a:t>
            </a:r>
            <a:r>
              <a:rPr lang="en-US" sz="1600" dirty="0">
                <a:solidFill>
                  <a:srgbClr val="EAF2FF"/>
                </a:solidFill>
              </a:rPr>
              <a:t>You can swap the dataset/model later; the deployment pattern remains similar.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STEP 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Choose a practical image task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Keep training short; spend more time on deployment and debugging.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4892040" cy="1298448"/>
          </a:xfrm>
          <a:prstGeom prst="roundRect">
            <a:avLst>
              <a:gd name="adj" fmla="val 4225"/>
            </a:avLst>
          </a:prstGeom>
          <a:solidFill>
            <a:srgbClr val="0B2443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6420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4D7FF"/>
                </a:solidFill>
              </a:rPr>
              <a:t>Dataset options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05840" y="2048256"/>
            <a:ext cx="4343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9FB4D1"/>
                </a:solidFill>
              </a:rPr>
              <a:t>Cats vs Dogs, plant disease, waste classification, defect/OK images, custom classroom dataset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4892040" cy="1298448"/>
          </a:xfrm>
          <a:prstGeom prst="roundRect">
            <a:avLst>
              <a:gd name="adj" fmla="val 4225"/>
            </a:avLst>
          </a:prstGeom>
          <a:solidFill>
            <a:srgbClr val="0B2443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6420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B84D"/>
                </a:solidFill>
              </a:rPr>
              <a:t>Model options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92240" y="2048256"/>
            <a:ext cx="4343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9FB4D1"/>
                </a:solidFill>
              </a:rPr>
              <a:t>Transfer learning with MobileNet/ResNet, or a small CNN for quick demo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4892040" cy="1298448"/>
          </a:xfrm>
          <a:prstGeom prst="roundRect">
            <a:avLst>
              <a:gd name="adj" fmla="val 4225"/>
            </a:avLst>
          </a:prstGeom>
          <a:solidFill>
            <a:srgbClr val="0B2443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9300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1D983"/>
                </a:solidFill>
              </a:rPr>
              <a:t>Minimum split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05840" y="3877056"/>
            <a:ext cx="4343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9FB4D1"/>
                </a:solidFill>
              </a:rPr>
              <a:t>Train / validation / test. Do not evaluate on training data.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6263640" y="3291840"/>
            <a:ext cx="4892040" cy="1298448"/>
          </a:xfrm>
          <a:prstGeom prst="roundRect">
            <a:avLst>
              <a:gd name="adj" fmla="val 4225"/>
            </a:avLst>
          </a:prstGeom>
          <a:solidFill>
            <a:srgbClr val="0B2443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49300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6B6B"/>
                </a:solidFill>
              </a:rPr>
              <a:t>Risk checks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92240" y="3877056"/>
            <a:ext cx="4343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9FB4D1"/>
                </a:solidFill>
              </a:rPr>
              <a:t>Class imbalance, bad labels, duplicate images, leakage, poor lighting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STEP 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Training checklist for the live demo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Do not let the hands-on collapse because of missing basics.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31D9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4996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72E"/>
                </a:solidFill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517904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AF2FF"/>
                </a:solidFill>
              </a:rPr>
              <a:t>Create folders: data/train, data/val, data/test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14400" y="2075688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31D9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15798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72E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17627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AF2FF"/>
                </a:solidFill>
              </a:rPr>
              <a:t>Load and transform images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914400" y="2734056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31D9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8163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72E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283464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AF2FF"/>
                </a:solidFill>
              </a:rPr>
              <a:t>Train small model or fine-tune pretrained model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914400" y="3392424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31D9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47472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72E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3493008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AF2FF"/>
                </a:solidFill>
              </a:rPr>
              <a:t>Track loss, accuracy and confusion matrix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14400" y="4050792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31D9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13308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72E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415137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AF2FF"/>
                </a:solidFill>
              </a:rPr>
              <a:t>Save model + class names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914400" y="470916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31D9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79145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72E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809744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AF2FF"/>
                </a:solidFill>
              </a:rPr>
              <a:t>Write one inference test before API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Evaluation: accuracy alone can mislead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Students must learn to ask: what kind of mistake is expensive?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0C2546"/>
          </a:solidFill>
          <a:ln w="10160">
            <a:solidFill>
              <a:srgbClr val="294E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5564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34D7FF"/>
                </a:solidFill>
              </a:rPr>
              <a:t>Accuracy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960120" y="2121408"/>
            <a:ext cx="2697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D1"/>
                </a:solidFill>
              </a:rPr>
              <a:t>Good first metric when classes are balanced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0C2546"/>
          </a:solidFill>
          <a:ln w="10160">
            <a:solidFill>
              <a:srgbClr val="294E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75564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31D983"/>
                </a:solidFill>
              </a:rPr>
              <a:t>Precision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4663440" y="2121408"/>
            <a:ext cx="2697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D1"/>
                </a:solidFill>
              </a:rPr>
              <a:t>When false positives are costly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0C2546"/>
          </a:solidFill>
          <a:ln w="10160">
            <a:solidFill>
              <a:srgbClr val="294E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75564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FB84D"/>
                </a:solidFill>
              </a:rPr>
              <a:t>Recall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8366760" y="2121408"/>
            <a:ext cx="2697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D1"/>
                </a:solidFill>
              </a:rPr>
              <a:t>When missed defects/diseases are costly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0C2546"/>
          </a:solidFill>
          <a:ln w="10160">
            <a:solidFill>
              <a:srgbClr val="294E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3872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9B7CFF"/>
                </a:solidFill>
              </a:rPr>
              <a:t>Confusion matrix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960120" y="3904488"/>
            <a:ext cx="2697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D1"/>
                </a:solidFill>
              </a:rPr>
              <a:t>Shows which classes are confused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4840" y="3337560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0C2546"/>
          </a:solidFill>
          <a:ln w="10160">
            <a:solidFill>
              <a:srgbClr val="294E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53872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4A8DFF"/>
                </a:solidFill>
              </a:rPr>
              <a:t>Latency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4663440" y="3904488"/>
            <a:ext cx="2697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D1"/>
                </a:solidFill>
              </a:rPr>
              <a:t>Production needs speed, not just correctness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4400" y="580644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4D"/>
                </a:solidFill>
              </a:rPr>
              <a:t>Demo line to say: “A model with 95% accuracy can still be useless if the 5% errors are the critical cases.”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STEP 3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Serve the model with a small API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This is the step that turns ML into something another application can use.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5212080" cy="4206240"/>
          </a:xfrm>
          <a:prstGeom prst="roundRect">
            <a:avLst>
              <a:gd name="adj" fmla="val 1304"/>
            </a:avLst>
          </a:prstGeom>
          <a:solidFill>
            <a:srgbClr val="061326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19072"/>
            <a:ext cx="4754880" cy="3429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fastapi import FastAPI, UploadFile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 = FastAPI()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model = load_model("model.pt")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classes = ["ok", "defect"]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@app.get("/health")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health():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{"status": "ok"}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@app.post("/predict")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async def predict(file: UploadFile):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image = preprocess(await file.read())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prob = model_predict(model, image)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{"class": classes[argmax(prob)],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"confidence": float(max(prob))}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37960" y="1691640"/>
            <a:ext cx="457200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4D7FF"/>
                </a:solidFill>
              </a:rPr>
              <a:t>• </a:t>
            </a:r>
            <a:r>
              <a:rPr lang="en-US" sz="1500" dirty="0">
                <a:solidFill>
                  <a:srgbClr val="EAF2FF"/>
                </a:solidFill>
              </a:rPr>
              <a:t>/health proves the service is alive
</a:t>
            </a:r>
            <a:r>
              <a:rPr lang="en-US" sz="1500" b="1" dirty="0">
                <a:solidFill>
                  <a:srgbClr val="34D7FF"/>
                </a:solidFill>
              </a:rPr>
              <a:t>• </a:t>
            </a:r>
            <a:r>
              <a:rPr lang="en-US" sz="1500" dirty="0">
                <a:solidFill>
                  <a:srgbClr val="EAF2FF"/>
                </a:solidFill>
              </a:rPr>
              <a:t>/predict accepts image and returns JSON
</a:t>
            </a:r>
            <a:r>
              <a:rPr lang="en-US" sz="1500" b="1" dirty="0">
                <a:solidFill>
                  <a:srgbClr val="34D7FF"/>
                </a:solidFill>
              </a:rPr>
              <a:t>• </a:t>
            </a:r>
            <a:r>
              <a:rPr lang="en-US" sz="1500" dirty="0">
                <a:solidFill>
                  <a:srgbClr val="EAF2FF"/>
                </a:solidFill>
              </a:rPr>
              <a:t>Add validation: file type, size, corrupted image
</a:t>
            </a:r>
            <a:r>
              <a:rPr lang="en-US" sz="1500" b="1" dirty="0">
                <a:solidFill>
                  <a:srgbClr val="34D7FF"/>
                </a:solidFill>
              </a:rPr>
              <a:t>• </a:t>
            </a:r>
            <a:r>
              <a:rPr lang="en-US" sz="1500" dirty="0">
                <a:solidFill>
                  <a:srgbClr val="EAF2FF"/>
                </a:solidFill>
              </a:rPr>
              <a:t>Log request id, latency and predicted class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434340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102B4F"/>
          </a:solidFill>
          <a:ln w="10160">
            <a:solidFill>
              <a:srgbClr val="34D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45994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4D7FF"/>
                </a:solidFill>
              </a:rPr>
              <a:t>Good API design is part of ML engineering.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STEP 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Package the app with Docker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A Docker image removes “it works only on my laptop” excuses.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4983480" cy="3977640"/>
          </a:xfrm>
          <a:prstGeom prst="roundRect">
            <a:avLst>
              <a:gd name="adj" fmla="val 1379"/>
            </a:avLst>
          </a:prstGeom>
          <a:solidFill>
            <a:srgbClr val="061326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74520"/>
            <a:ext cx="452628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python:3.11-slim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WORKDIR /app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COPY requirements.txt 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 pip install --no-cache-dir -r requirements.txt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COPY . 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EXPOSE 8000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CMD ["uvicorn", "app:app", "--host", "0.0.0.0", "--port", "8000"]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1664208"/>
            <a:ext cx="466344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34D7FF"/>
                </a:solidFill>
              </a:rPr>
              <a:t>• </a:t>
            </a:r>
            <a:r>
              <a:rPr lang="en-US" sz="1420" dirty="0">
                <a:solidFill>
                  <a:srgbClr val="EAF2FF"/>
                </a:solidFill>
              </a:rPr>
              <a:t>Build: docker build -t image-classifier:1.0 .
</a:t>
            </a:r>
            <a:r>
              <a:rPr lang="en-US" sz="1420" b="1" dirty="0">
                <a:solidFill>
                  <a:srgbClr val="34D7FF"/>
                </a:solidFill>
              </a:rPr>
              <a:t>• </a:t>
            </a:r>
            <a:r>
              <a:rPr lang="en-US" sz="1420" dirty="0">
                <a:solidFill>
                  <a:srgbClr val="EAF2FF"/>
                </a:solidFill>
              </a:rPr>
              <a:t>Run: docker run -p 8000:8000 image-classifier:1.0
</a:t>
            </a:r>
            <a:r>
              <a:rPr lang="en-US" sz="1420" b="1" dirty="0">
                <a:solidFill>
                  <a:srgbClr val="34D7FF"/>
                </a:solidFill>
              </a:rPr>
              <a:t>• </a:t>
            </a:r>
            <a:r>
              <a:rPr lang="en-US" sz="1420" dirty="0">
                <a:solidFill>
                  <a:srgbClr val="EAF2FF"/>
                </a:solidFill>
              </a:rPr>
              <a:t>Test: curl /health and then upload an image
</a:t>
            </a:r>
            <a:r>
              <a:rPr lang="en-US" sz="1420" b="1" dirty="0">
                <a:solidFill>
                  <a:srgbClr val="34D7FF"/>
                </a:solidFill>
              </a:rPr>
              <a:t>• </a:t>
            </a:r>
            <a:r>
              <a:rPr lang="en-US" sz="1420" dirty="0">
                <a:solidFill>
                  <a:srgbClr val="EAF2FF"/>
                </a:solidFill>
              </a:rPr>
              <a:t>Common failure: missing model file, wrong path, heavy dependency image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1371600" y="580644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4D"/>
                </a:solidFill>
              </a:rPr>
              <a:t>For students: understand the Dockerfile line by line; do not paste it blindly.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STEP 5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Deployment choices: choose based on maturity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Do not overcomplicate the first demo. Scale the deployment after the basics work.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2423160" cy="3063240"/>
          </a:xfrm>
          <a:prstGeom prst="roundRect">
            <a:avLst>
              <a:gd name="adj" fmla="val 2264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2024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4D"/>
                </a:solidFill>
              </a:rPr>
              <a:t>Level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377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4D7FF"/>
                </a:solidFill>
              </a:rPr>
              <a:t>Local Docker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19659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D1"/>
                </a:solidFill>
              </a:rPr>
              <a:t>Best for classroom demo and first testing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11880" y="1600200"/>
            <a:ext cx="2423160" cy="3063240"/>
          </a:xfrm>
          <a:prstGeom prst="roundRect">
            <a:avLst>
              <a:gd name="adj" fmla="val 2264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92024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4D"/>
                </a:solidFill>
              </a:rPr>
              <a:t>Level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76472" y="2377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4D7FF"/>
                </a:solidFill>
              </a:rPr>
              <a:t>Cloud VM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840480" y="3063240"/>
            <a:ext cx="19659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D1"/>
                </a:solidFill>
              </a:rPr>
              <a:t>Simple public endpoint, easier than Kubernetes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46520" y="1600200"/>
            <a:ext cx="2423160" cy="3063240"/>
          </a:xfrm>
          <a:prstGeom prst="roundRect">
            <a:avLst>
              <a:gd name="adj" fmla="val 2264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92024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4D"/>
                </a:solidFill>
              </a:rPr>
              <a:t>Level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11112" y="2377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4D7FF"/>
                </a:solidFill>
              </a:rPr>
              <a:t>Kubernetes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75120" y="3063240"/>
            <a:ext cx="19659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D1"/>
                </a:solidFill>
              </a:rPr>
              <a:t>Scaling, rollout, health probes, service discovery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81160" y="1600200"/>
            <a:ext cx="2423160" cy="3063240"/>
          </a:xfrm>
          <a:prstGeom prst="roundRect">
            <a:avLst>
              <a:gd name="adj" fmla="val 2264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64040" y="192024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4D"/>
                </a:solidFill>
              </a:rPr>
              <a:t>Level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45752" y="2377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4D7FF"/>
                </a:solidFill>
              </a:rPr>
              <a:t>Managed serving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509760" y="3063240"/>
            <a:ext cx="19659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D1"/>
                </a:solidFill>
              </a:rPr>
              <a:t>KServe, SageMaker, Vertex AI, Azure ML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KUBERNETES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Kubernetes deployment: minimum concepts students should know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Kubernetes is powerful, but first learn why each object exists.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10515600" cy="530352"/>
          </a:xfrm>
          <a:prstGeom prst="roundRect">
            <a:avLst>
              <a:gd name="adj" fmla="val 8621"/>
            </a:avLst>
          </a:prstGeom>
          <a:solidFill>
            <a:srgbClr val="0A213F"/>
          </a:solidFill>
          <a:ln w="12700">
            <a:solidFill>
              <a:srgbClr val="294E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4721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7FF"/>
                </a:solidFill>
              </a:rPr>
              <a:t>Deployment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80360" y="1472184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EAF2FF"/>
                </a:solidFill>
              </a:rPr>
              <a:t>Runs replicas of the API container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0515600" cy="530352"/>
          </a:xfrm>
          <a:prstGeom prst="roundRect">
            <a:avLst>
              <a:gd name="adj" fmla="val 8621"/>
            </a:avLst>
          </a:prstGeom>
          <a:solidFill>
            <a:srgbClr val="0A213F"/>
          </a:solidFill>
          <a:ln w="12700">
            <a:solidFill>
              <a:srgbClr val="294E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24942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1D983"/>
                </a:solidFill>
              </a:rPr>
              <a:t>Service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80360" y="2249424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EAF2FF"/>
                </a:solidFill>
              </a:rPr>
              <a:t>Stable network access inside/outside cluster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822960" y="2880360"/>
            <a:ext cx="10515600" cy="530352"/>
          </a:xfrm>
          <a:prstGeom prst="roundRect">
            <a:avLst>
              <a:gd name="adj" fmla="val 8621"/>
            </a:avLst>
          </a:prstGeom>
          <a:solidFill>
            <a:srgbClr val="0A213F"/>
          </a:solidFill>
          <a:ln w="12700">
            <a:solidFill>
              <a:srgbClr val="294E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0266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B84D"/>
                </a:solidFill>
              </a:rPr>
              <a:t>Probe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80360" y="3026664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EAF2FF"/>
                </a:solidFill>
              </a:rPr>
              <a:t>Kubernetes checks health/readiness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10515600" cy="530352"/>
          </a:xfrm>
          <a:prstGeom prst="roundRect">
            <a:avLst>
              <a:gd name="adj" fmla="val 8621"/>
            </a:avLst>
          </a:prstGeom>
          <a:solidFill>
            <a:srgbClr val="0A213F"/>
          </a:solidFill>
          <a:ln w="12700">
            <a:solidFill>
              <a:srgbClr val="294E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80390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CFF"/>
                </a:solidFill>
              </a:rPr>
              <a:t>Config/Secret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80360" y="3803904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EAF2FF"/>
                </a:solidFill>
              </a:rPr>
              <a:t>Keeps environment-specific settings outside code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822960" y="4434840"/>
            <a:ext cx="10515600" cy="530352"/>
          </a:xfrm>
          <a:prstGeom prst="roundRect">
            <a:avLst>
              <a:gd name="adj" fmla="val 8621"/>
            </a:avLst>
          </a:prstGeom>
          <a:solidFill>
            <a:srgbClr val="0A213F"/>
          </a:solidFill>
          <a:ln w="12700">
            <a:solidFill>
              <a:srgbClr val="294E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58114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8DFF"/>
                </a:solidFill>
              </a:rPr>
              <a:t>Ingress/Gateway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80360" y="4581144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EAF2FF"/>
                </a:solidFill>
              </a:rPr>
              <a:t>Routes external traffic to the service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4D"/>
                </a:solidFill>
              </a:rPr>
              <a:t>For a first session, explain this visually. YAML can come after they understand the purpose.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OPERATIONS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Deployment is not done until you can see failures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This is the industry mindset most students miss.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2331720" cy="2011680"/>
          </a:xfrm>
          <a:prstGeom prst="roundRect">
            <a:avLst>
              <a:gd name="adj" fmla="val 2727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013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1D983"/>
                </a:solidFill>
              </a:rPr>
              <a:t>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331720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D1"/>
                </a:solidFill>
              </a:rPr>
              <a:t>CPU, memory, GPU, disk, restarts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11880" y="1508760"/>
            <a:ext cx="2331720" cy="2011680"/>
          </a:xfrm>
          <a:prstGeom prst="roundRect">
            <a:avLst>
              <a:gd name="adj" fmla="val 2727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18013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7FF"/>
                </a:solidFill>
              </a:rPr>
              <a:t>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2331720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D1"/>
                </a:solidFill>
              </a:rPr>
              <a:t>requests/sec, latency, 4xx/5xx, timeouts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0" y="1508760"/>
            <a:ext cx="2331720" cy="2011680"/>
          </a:xfrm>
          <a:prstGeom prst="roundRect">
            <a:avLst>
              <a:gd name="adj" fmla="val 2727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8013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B84D"/>
                </a:solidFill>
              </a:rPr>
              <a:t>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331720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D1"/>
                </a:solidFill>
              </a:rPr>
              <a:t>confidence, class distribution, drift, accuracy feedback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1508760"/>
            <a:ext cx="2331720" cy="2011680"/>
          </a:xfrm>
          <a:prstGeom prst="roundRect">
            <a:avLst>
              <a:gd name="adj" fmla="val 2727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18013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7CFF"/>
                </a:solidFill>
              </a:rPr>
              <a:t>Business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18320" y="2331720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FB4D1"/>
                </a:solidFill>
              </a:rPr>
              <a:t>manual review rate, false OK/false defect cost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4251960"/>
            <a:ext cx="9875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34D7FF"/>
                </a:solidFill>
              </a:rPr>
              <a:t>• </a:t>
            </a:r>
            <a:r>
              <a:rPr lang="en-US" sz="1580" dirty="0">
                <a:solidFill>
                  <a:srgbClr val="EAF2FF"/>
                </a:solidFill>
              </a:rPr>
              <a:t>Add logs in the API before showing deployment success.
</a:t>
            </a:r>
            <a:r>
              <a:rPr lang="en-US" sz="1580" b="1" dirty="0">
                <a:solidFill>
                  <a:srgbClr val="34D7FF"/>
                </a:solidFill>
              </a:rPr>
              <a:t>• </a:t>
            </a:r>
            <a:r>
              <a:rPr lang="en-US" sz="1580" dirty="0">
                <a:solidFill>
                  <a:srgbClr val="EAF2FF"/>
                </a:solidFill>
              </a:rPr>
              <a:t>Track latency and error rate even in a student demo.
</a:t>
            </a:r>
            <a:r>
              <a:rPr lang="en-US" sz="1580" b="1" dirty="0">
                <a:solidFill>
                  <a:srgbClr val="34D7FF"/>
                </a:solidFill>
              </a:rPr>
              <a:t>• </a:t>
            </a:r>
            <a:r>
              <a:rPr lang="en-US" sz="1580" dirty="0">
                <a:solidFill>
                  <a:srgbClr val="EAF2FF"/>
                </a:solidFill>
              </a:rPr>
              <a:t>Show at least one failure case and how you debugged it.</a:t>
            </a:r>
            <a:endParaRPr lang="en-US" sz="1580" dirty="0"/>
          </a:p>
        </p:txBody>
      </p:sp>
      <p:sp>
        <p:nvSpPr>
          <p:cNvPr id="18" name="Text 16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DEMO SCRIPT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Live demo checklist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Use this sequence to avoid chaos during the hands-on section.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4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45389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172E"/>
                </a:solidFill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08760" y="14538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</a:rPr>
              <a:t>Open repo and explain folder structure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4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41401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172E"/>
                </a:solidFill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08760" y="241401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</a:rPr>
              <a:t>Run training with a small sample dataset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4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37413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172E"/>
                </a:solidFill>
              </a:rPr>
              <a:t>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08760" y="337413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</a:rPr>
              <a:t>Show saved model artifact and class mapping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2062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4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33425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172E"/>
                </a:solidFill>
              </a:rPr>
              <a:t>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08760" y="433425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</a:rPr>
              <a:t>Start FastAPI locally and call /health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13258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4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145389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172E"/>
                </a:solidFill>
              </a:rPr>
              <a:t>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86600" y="14538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</a:rPr>
              <a:t>Upload one image to /predict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22860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4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47104" y="241401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172E"/>
                </a:solidFill>
              </a:rPr>
              <a:t>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86600" y="241401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</a:rPr>
              <a:t>Build Docker image and run container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0" y="32461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4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7104" y="337413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172E"/>
                </a:solidFill>
              </a:rPr>
              <a:t>7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86600" y="337413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</a:rPr>
              <a:t>Show logs and one error case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0" y="42062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4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433425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172E"/>
                </a:solidFill>
              </a:rPr>
              <a:t>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86600" y="433425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</a:rPr>
              <a:t>Optional: deploy to Kubernetes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CAREER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Questions students should be ready to answer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These are simple, but weak projects fail here.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5074920" cy="438912"/>
          </a:xfrm>
          <a:prstGeom prst="roundRect">
            <a:avLst>
              <a:gd name="adj" fmla="val 10417"/>
            </a:avLst>
          </a:prstGeom>
          <a:solidFill>
            <a:srgbClr val="0C2546"/>
          </a:solidFill>
          <a:ln w="12700">
            <a:solidFill>
              <a:srgbClr val="294E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00784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2FF"/>
                </a:solidFill>
              </a:rPr>
              <a:t>Why did you choose this model and metric?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55080" y="1572768"/>
            <a:ext cx="5074920" cy="438912"/>
          </a:xfrm>
          <a:prstGeom prst="roundRect">
            <a:avLst>
              <a:gd name="adj" fmla="val 10417"/>
            </a:avLst>
          </a:prstGeom>
          <a:solidFill>
            <a:srgbClr val="0A213F"/>
          </a:solidFill>
          <a:ln w="12700">
            <a:solidFill>
              <a:srgbClr val="294E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700784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2FF"/>
                </a:solidFill>
              </a:rPr>
              <a:t>How did you avoid data leakage?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5074920" cy="438912"/>
          </a:xfrm>
          <a:prstGeom prst="roundRect">
            <a:avLst>
              <a:gd name="adj" fmla="val 10417"/>
            </a:avLst>
          </a:prstGeom>
          <a:solidFill>
            <a:srgbClr val="0C2546"/>
          </a:solidFill>
          <a:ln w="12700">
            <a:solidFill>
              <a:srgbClr val="294E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505456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2FF"/>
                </a:solidFill>
              </a:rPr>
              <a:t>What happens if the image is corrupt or too large?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2377440"/>
            <a:ext cx="5074920" cy="438912"/>
          </a:xfrm>
          <a:prstGeom prst="roundRect">
            <a:avLst>
              <a:gd name="adj" fmla="val 10417"/>
            </a:avLst>
          </a:prstGeom>
          <a:solidFill>
            <a:srgbClr val="0A213F"/>
          </a:solidFill>
          <a:ln w="12700">
            <a:solidFill>
              <a:srgbClr val="294E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2505456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2FF"/>
                </a:solidFill>
              </a:rPr>
              <a:t>How do you deploy a new model version safely?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182112"/>
            <a:ext cx="5074920" cy="438912"/>
          </a:xfrm>
          <a:prstGeom prst="roundRect">
            <a:avLst>
              <a:gd name="adj" fmla="val 10417"/>
            </a:avLst>
          </a:prstGeom>
          <a:solidFill>
            <a:srgbClr val="0C2546"/>
          </a:solidFill>
          <a:ln w="12700">
            <a:solidFill>
              <a:srgbClr val="294E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310128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2FF"/>
                </a:solidFill>
              </a:rPr>
              <a:t>What logs/metrics would you monitor?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55080" y="3182112"/>
            <a:ext cx="5074920" cy="438912"/>
          </a:xfrm>
          <a:prstGeom prst="roundRect">
            <a:avLst>
              <a:gd name="adj" fmla="val 10417"/>
            </a:avLst>
          </a:prstGeom>
          <a:solidFill>
            <a:srgbClr val="0A213F"/>
          </a:solidFill>
          <a:ln w="12700">
            <a:solidFill>
              <a:srgbClr val="294E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3310128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2FF"/>
                </a:solidFill>
              </a:rPr>
              <a:t>How would you improve accuracy without overfitting?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986784"/>
            <a:ext cx="5074920" cy="438912"/>
          </a:xfrm>
          <a:prstGeom prst="roundRect">
            <a:avLst>
              <a:gd name="adj" fmla="val 10417"/>
            </a:avLst>
          </a:prstGeom>
          <a:solidFill>
            <a:srgbClr val="0C2546"/>
          </a:solidFill>
          <a:ln w="12700">
            <a:solidFill>
              <a:srgbClr val="294E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114800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2FF"/>
                </a:solidFill>
              </a:rPr>
              <a:t>How would you reduce latency or memory usage?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3986784"/>
            <a:ext cx="5074920" cy="438912"/>
          </a:xfrm>
          <a:prstGeom prst="roundRect">
            <a:avLst>
              <a:gd name="adj" fmla="val 10417"/>
            </a:avLst>
          </a:prstGeom>
          <a:solidFill>
            <a:srgbClr val="0A213F"/>
          </a:solidFill>
          <a:ln w="12700">
            <a:solidFill>
              <a:srgbClr val="294E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4114800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2FF"/>
                </a:solidFill>
              </a:rPr>
              <a:t>What are the ethical or business risks?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ASSIGNMENT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Post-session assignment: build one complete mini-project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Make the rubric concrete so students know what “good” looks like.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05840" y="1417320"/>
            <a:ext cx="10195560" cy="4343400"/>
          </a:xfrm>
          <a:prstGeom prst="roundRect">
            <a:avLst>
              <a:gd name="adj" fmla="val 1263"/>
            </a:avLst>
          </a:prstGeom>
          <a:solidFill>
            <a:srgbClr val="0B2443"/>
          </a:solidFill>
          <a:ln w="10160">
            <a:solidFill>
              <a:srgbClr val="2B51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755648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</a:rPr>
              <a:t>Dataset + EDA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0" y="175564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4D7FF"/>
                </a:solidFill>
              </a:rPr>
              <a:t>10 pts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2048256"/>
            <a:ext cx="9052560" cy="0"/>
          </a:xfrm>
          <a:prstGeom prst="line">
            <a:avLst/>
          </a:prstGeom>
          <a:noFill/>
          <a:ln w="6350">
            <a:solidFill>
              <a:srgbClr val="294E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258568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</a:rPr>
              <a:t>Training + metrics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0" y="225856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4D7FF"/>
                </a:solidFill>
              </a:rPr>
              <a:t>20 pts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80160" y="2551176"/>
            <a:ext cx="9052560" cy="0"/>
          </a:xfrm>
          <a:prstGeom prst="line">
            <a:avLst/>
          </a:prstGeom>
          <a:noFill/>
          <a:ln w="6350">
            <a:solidFill>
              <a:srgbClr val="294E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761488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</a:rPr>
              <a:t>API inference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0" y="276148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4D7FF"/>
                </a:solidFill>
              </a:rPr>
              <a:t>20 pts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80160" y="3054096"/>
            <a:ext cx="9052560" cy="0"/>
          </a:xfrm>
          <a:prstGeom prst="line">
            <a:avLst/>
          </a:prstGeom>
          <a:noFill/>
          <a:ln w="6350">
            <a:solidFill>
              <a:srgbClr val="294E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3264408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</a:rPr>
              <a:t>Docker packaging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18320" y="326440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4D7FF"/>
                </a:solidFill>
              </a:rPr>
              <a:t>15 pts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80160" y="3557016"/>
            <a:ext cx="9052560" cy="0"/>
          </a:xfrm>
          <a:prstGeom prst="line">
            <a:avLst/>
          </a:prstGeom>
          <a:noFill/>
          <a:ln w="6350">
            <a:solidFill>
              <a:srgbClr val="294E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3767328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</a:rPr>
              <a:t>Deployment proof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0" y="376732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4D7FF"/>
                </a:solidFill>
              </a:rPr>
              <a:t>15 pts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80160" y="4059936"/>
            <a:ext cx="9052560" cy="0"/>
          </a:xfrm>
          <a:prstGeom prst="line">
            <a:avLst/>
          </a:prstGeom>
          <a:noFill/>
          <a:ln w="6350">
            <a:solidFill>
              <a:srgbClr val="294E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270248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</a:rPr>
              <a:t>Monitoring/logs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8320" y="427024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4D7FF"/>
                </a:solidFill>
              </a:rPr>
              <a:t>10 pts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80160" y="4562856"/>
            <a:ext cx="9052560" cy="0"/>
          </a:xfrm>
          <a:prstGeom prst="line">
            <a:avLst/>
          </a:prstGeom>
          <a:noFill/>
          <a:ln w="6350">
            <a:solidFill>
              <a:srgbClr val="294E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4773168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</a:rPr>
              <a:t>README + demo video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18320" y="477316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4D7FF"/>
                </a:solidFill>
              </a:rPr>
              <a:t>10 pts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80160" y="5065776"/>
            <a:ext cx="9052560" cy="0"/>
          </a:xfrm>
          <a:prstGeom prst="line">
            <a:avLst/>
          </a:prstGeom>
          <a:noFill/>
          <a:ln w="6350">
            <a:solidFill>
              <a:srgbClr val="294E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5989320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84D"/>
                </a:solidFill>
              </a:rPr>
              <a:t>Submission should include GitHub repo, screenshot of API response, Docker command and a 2-minute demo.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CLOSING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Blunt career advice for AI jobs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Good advice is not always comfortable.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5074920" cy="1234440"/>
          </a:xfrm>
          <a:prstGeom prst="roundRect">
            <a:avLst>
              <a:gd name="adj" fmla="val 4444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09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B84D"/>
                </a:solidFill>
              </a:rPr>
              <a:t>Do not chase only certificates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05840" y="2084832"/>
            <a:ext cx="44805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FB4D1"/>
                </a:solidFill>
              </a:rPr>
              <a:t>Certificates help only when backed by code and deployment.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074920" cy="1234440"/>
          </a:xfrm>
          <a:prstGeom prst="roundRect">
            <a:avLst>
              <a:gd name="adj" fmla="val 4444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709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4D7FF"/>
                </a:solidFill>
              </a:rPr>
              <a:t>Do not call every chatbot “AI project”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37960" y="2084832"/>
            <a:ext cx="44805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FB4D1"/>
                </a:solidFill>
              </a:rPr>
              <a:t>Show evaluation, safety, monitoring and business use.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77240" y="3337560"/>
            <a:ext cx="5074920" cy="1234440"/>
          </a:xfrm>
          <a:prstGeom prst="roundRect">
            <a:avLst>
              <a:gd name="adj" fmla="val 4444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35387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1D983"/>
                </a:solidFill>
              </a:rPr>
              <a:t>Learn boring engineering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05840" y="3913632"/>
            <a:ext cx="44805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FB4D1"/>
                </a:solidFill>
              </a:rPr>
              <a:t>Git, APIs, Docker, SQL and debugging decide whether your ML works outside class.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309360" y="3337560"/>
            <a:ext cx="5074920" cy="1234440"/>
          </a:xfrm>
          <a:prstGeom prst="roundRect">
            <a:avLst>
              <a:gd name="adj" fmla="val 4444"/>
            </a:avLst>
          </a:prstGeom>
          <a:solidFill>
            <a:srgbClr val="0C2546"/>
          </a:solidFill>
          <a:ln w="10160">
            <a:solidFill>
              <a:srgbClr val="2A527D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35387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6B6B"/>
                </a:solidFill>
              </a:rPr>
              <a:t>Build in public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37960" y="3913632"/>
            <a:ext cx="44805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FB4D1"/>
                </a:solidFill>
              </a:rPr>
              <a:t>A clean GitHub repo is your proof before the interview.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7FF"/>
                </a:solidFill>
              </a:rPr>
              <a:t>REFERENCES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F"/>
                </a:solidFill>
              </a:rPr>
              <a:t>Sources used for the industry perspective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FB4D1"/>
                </a:solidFill>
              </a:rPr>
              <a:t>Use current signals, but teach durable fundamentals.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2FF"/>
                </a:solidFill>
              </a:rPr>
              <a:t>• World Economic Forum — Future of Jobs Report 2025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914400" y="198424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2FF"/>
                </a:solidFill>
              </a:rPr>
              <a:t>• Stanford HAI — AI Index Report 2026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914400" y="2551176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2FF"/>
                </a:solidFill>
              </a:rPr>
              <a:t>• PwC — Global AI Jobs Barometer 2026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14400" y="3118104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2FF"/>
                </a:solidFill>
              </a:rPr>
              <a:t>• Lightcast + Stanford — AI Index 2026 labor-market highlights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14400" y="368503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2FF"/>
                </a:solidFill>
              </a:rPr>
              <a:t>• Reuters — India AI hiring outpaces overall IT recruitment, July 3 2026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14400" y="4251960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2FF"/>
                </a:solidFill>
              </a:rPr>
              <a:t>• LinkedIn — Skills on the Rise 2026: India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914400" y="56692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B84D"/>
                </a:solidFill>
              </a:rPr>
              <a:t>Suggested classroom resources: PyTorch/TensorFlow docs, FastAPI docs, Docker docs, Kubernetes docs, MLflow docs.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2708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2650</Words>
  <Application>Microsoft Office PowerPoint</Application>
  <PresentationFormat>Widescreen</PresentationFormat>
  <Paragraphs>450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MLOps &amp; Model Deployment: Industry View + Hands-on Image Model</dc:title>
  <dc:subject>MLOps and Model Deployment for Engineering Students</dc:subject>
  <dc:creator>OpenAI</dc:creator>
  <cp:lastModifiedBy>Sanjay N T</cp:lastModifiedBy>
  <cp:revision>4</cp:revision>
  <dcterms:created xsi:type="dcterms:W3CDTF">2026-07-09T15:55:53Z</dcterms:created>
  <dcterms:modified xsi:type="dcterms:W3CDTF">2026-07-11T03:19:06Z</dcterms:modified>
</cp:coreProperties>
</file>