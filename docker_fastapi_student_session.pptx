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8" autoAdjust="0"/>
    <p:restoredTop sz="94610"/>
  </p:normalViewPr>
  <p:slideViewPr>
    <p:cSldViewPr snapToGrid="0" snapToObjects="1">
      <p:cViewPr>
        <p:scale>
          <a:sx n="119" d="100"/>
          <a:sy n="119" d="100"/>
        </p:scale>
        <p:origin x="96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0834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by positioning Docker and FastAPI as different tools: Docker packages and runs the application consistently; FastAPI exposes the application as a web API. Do not mix them as one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distinction throughout the session. It prevents confusion later when ports, servers, containers, and endpoints come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motivate students: Docker and FastAPI are not just syntax; they show deployment maturity.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break: Part 1 — Docker. Explain the purpose of this part before moving into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classic “works on my machine” problem. Keep the point simple: Docker gives consistency by packaging dependencies and runtime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oversell containers as full VMs. Containers are process-level isolation, not a complete separate machine. This precision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one sentence per term. Avoid diving into Kubernetes or cloud registries here; keep the foundation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layer caching with an example: if requirements.txt does not change, Docker can skip reinstalling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students: is an image running? No. A container runs. This clears a common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a line-by-line walkthrough. Emphasize that EXPOSE does not publish a port by itself; docker run -p does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prevents the most common practical mistakes: port order, lost files, and hardcoded secrets.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boundary clear: Compose is excellent for local multi-container development; Kubernetes is for larger orchestration.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break: Part 2 — FastAPI. Explain the purpose of this part before moving into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API as a contract. Students should understand that endpoints are not random functions; they are network-facing contracts.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FastAPI’s value clearly, but do not sell it as magic. It still needs good code structure, error handling, and deployment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most important slides. Students should be able to narrate request flow without looking at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decorators, app object, Pydantic model, route handler, and automatic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students to avoid returning 200 for every case. Status codes are part of the API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students that structure is not bureaucracy. It prevents code from becoming impossible to test and maintain.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break: Part 3 — Together. Explain the purpose of this part before moving into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directly connects the two parts. Make students type these commands in a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one student to narrate this whole flow. If they can do that, the session objective is achieved.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practical. Students should learn to localize the failure instead of randomly changing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activity matches the user’s teaching context: a practical ML model API with health and model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blunt tone here. These are not theoretical mistakes; they break deployments constantly.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strong expectation: notebooks are learning artifacts; APIs and containers are deployment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prompts to check student understanding rather than only asking if they have doubts.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1430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&amp; FastAPI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94944" y="199339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</a:rPr>
              <a:t>Fundamentals for Engineering Students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" y="288036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Part 1: Docker basics and container mental model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Part 2: FastAPI basics and API request flow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Part 3: How they work together in a deployable app</a:t>
            </a:r>
            <a:endParaRPr lang="en-US" sz="1700" dirty="0"/>
          </a:p>
        </p:txBody>
      </p:sp>
      <p:pic>
        <p:nvPicPr>
          <p:cNvPr id="5" name="Image 0" descr="/mnt/data/docker_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097280"/>
            <a:ext cx="2880360" cy="1618488"/>
          </a:xfrm>
          <a:prstGeom prst="rect">
            <a:avLst/>
          </a:prstGeom>
        </p:spPr>
      </p:pic>
      <p:pic>
        <p:nvPicPr>
          <p:cNvPr id="6" name="Image 1" descr="/mnt/data/fastap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154680"/>
            <a:ext cx="2788920" cy="5212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13232" y="544068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D63ED">
              <a:alpha val="92000"/>
            </a:srgbClr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32104" y="5527548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Beginner-friendly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423160" y="544068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009688">
              <a:alpha val="92000"/>
            </a:srgbClr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542032" y="5527548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Hands-on ready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133088" y="54406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7C3AED">
              <a:alpha val="9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51960" y="5527548"/>
            <a:ext cx="1682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Industry mental model</a:t>
            </a:r>
            <a:endParaRPr lang="en-US" sz="10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013D6CA7-D40D-147C-3D26-FBA5F6458210}"/>
              </a:ext>
            </a:extLst>
          </p:cNvPr>
          <p:cNvSpPr/>
          <p:nvPr/>
        </p:nvSpPr>
        <p:spPr>
          <a:xfrm>
            <a:off x="9565301" y="6190488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chemeClr val="bg1"/>
                </a:solidFill>
              </a:rPr>
              <a:t>By Sanjay 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map: two tools, two different jobs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316986" y="2537460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030468" y="2537460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743950" y="2537460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2512314" cy="1508760"/>
          </a:xfrm>
          <a:prstGeom prst="roundRect">
            <a:avLst>
              <a:gd name="adj" fmla="val 6061"/>
            </a:avLst>
          </a:prstGeom>
          <a:solidFill>
            <a:srgbClr val="1D63ED">
              <a:alpha val="98000"/>
            </a:srgbClr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47672"/>
            <a:ext cx="25123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441448"/>
            <a:ext cx="2329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Docker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" y="2752344"/>
            <a:ext cx="22928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Package + run software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90722" y="1783080"/>
            <a:ext cx="2512314" cy="1508760"/>
          </a:xfrm>
          <a:prstGeom prst="roundRect">
            <a:avLst>
              <a:gd name="adj" fmla="val 6061"/>
            </a:avLst>
          </a:prstGeom>
          <a:solidFill>
            <a:srgbClr val="009688">
              <a:alpha val="98000"/>
            </a:srgbClr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0722" y="1947672"/>
            <a:ext cx="25123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82162" y="2441448"/>
            <a:ext cx="2329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FastAPI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00450" y="2752344"/>
            <a:ext cx="22928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Expose logic over HTTP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04204" y="1783080"/>
            <a:ext cx="2512314" cy="1508760"/>
          </a:xfrm>
          <a:prstGeom prst="roundRect">
            <a:avLst>
              <a:gd name="adj" fmla="val 6061"/>
            </a:avLst>
          </a:prstGeom>
          <a:solidFill>
            <a:srgbClr val="7C3AED">
              <a:alpha val="9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4204" y="1947672"/>
            <a:ext cx="25123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95644" y="2441448"/>
            <a:ext cx="2329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Together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13932" y="2752344"/>
            <a:ext cx="22928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Deploy one clean service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17686" y="1783080"/>
            <a:ext cx="2512314" cy="1508760"/>
          </a:xfrm>
          <a:prstGeom prst="roundRect">
            <a:avLst>
              <a:gd name="adj" fmla="val 6061"/>
            </a:avLst>
          </a:prstGeom>
          <a:solidFill>
            <a:srgbClr val="EA580C">
              <a:alpha val="98000"/>
            </a:srgbClr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7686" y="1947672"/>
            <a:ext cx="25123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🧪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09126" y="2441448"/>
            <a:ext cx="2329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Practice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27414" y="2752344"/>
            <a:ext cx="22928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Build, test, debug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" y="3886200"/>
            <a:ext cx="5166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10565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D63ED"/>
                </a:solidFill>
              </a:rPr>
              <a:t>🧠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22960" y="3886200"/>
            <a:ext cx="73152" cy="1234440"/>
          </a:xfrm>
          <a:prstGeom prst="rect">
            <a:avLst/>
          </a:prstGeom>
          <a:solidFill>
            <a:srgbClr val="1D63ED"/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4480" y="41056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Correct mental split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4599432"/>
            <a:ext cx="470916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Docker is about environment and process isolation. FastAPI is about request handling and Python web services.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63640" y="3886200"/>
            <a:ext cx="5166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10565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F4444"/>
                </a:solidFill>
              </a:rPr>
              <a:t>⚠️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263640" y="3886200"/>
            <a:ext cx="73152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41056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Teaching warning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92240" y="4599432"/>
            <a:ext cx="470916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Students often say “Docker runs the API”. More precise: Docker runs a container process, and that process may be a FastAPI server.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Agenda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students should learn both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4358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Modern teams rarely ship only a Python file. They ship a service.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316986" y="2697480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30468" y="2697480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743950" y="2697480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7240" y="1920240"/>
            <a:ext cx="2512314" cy="1554480"/>
          </a:xfrm>
          <a:prstGeom prst="roundRect">
            <a:avLst>
              <a:gd name="adj" fmla="val 5882"/>
            </a:avLst>
          </a:prstGeom>
          <a:solidFill>
            <a:srgbClr val="334155">
              <a:alpha val="98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84832"/>
            <a:ext cx="25123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💻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2578608"/>
            <a:ext cx="2329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2889504"/>
            <a:ext cx="229285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Python app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90722" y="1920240"/>
            <a:ext cx="2512314" cy="1554480"/>
          </a:xfrm>
          <a:prstGeom prst="roundRect">
            <a:avLst>
              <a:gd name="adj" fmla="val 5882"/>
            </a:avLst>
          </a:prstGeom>
          <a:solidFill>
            <a:srgbClr val="1D63ED">
              <a:alpha val="98000"/>
            </a:srgbClr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0722" y="2084832"/>
            <a:ext cx="25123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82162" y="2578608"/>
            <a:ext cx="2329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Image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00450" y="2889504"/>
            <a:ext cx="229285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Repeatable package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04204" y="1920240"/>
            <a:ext cx="2512314" cy="1554480"/>
          </a:xfrm>
          <a:prstGeom prst="roundRect">
            <a:avLst>
              <a:gd name="adj" fmla="val 5882"/>
            </a:avLst>
          </a:prstGeom>
          <a:solidFill>
            <a:srgbClr val="009688">
              <a:alpha val="98000"/>
            </a:srgbClr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4204" y="2084832"/>
            <a:ext cx="25123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🚀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95644" y="2578608"/>
            <a:ext cx="2329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13932" y="2889504"/>
            <a:ext cx="229285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API over network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17686" y="1920240"/>
            <a:ext cx="2512314" cy="1554480"/>
          </a:xfrm>
          <a:prstGeom prst="roundRect">
            <a:avLst>
              <a:gd name="adj" fmla="val 5882"/>
            </a:avLst>
          </a:prstGeom>
          <a:solidFill>
            <a:srgbClr val="22C55E">
              <a:alpha val="98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7686" y="2084832"/>
            <a:ext cx="25123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09126" y="2578608"/>
            <a:ext cx="23294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27414" y="2889504"/>
            <a:ext cx="229285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Logs + health + metrics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960" y="4069080"/>
            <a:ext cx="5166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428853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C3AED"/>
                </a:solidFill>
              </a:rPr>
              <a:t>🎯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22960" y="406908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54480" y="42885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interviewers expect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4782312"/>
            <a:ext cx="470916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Explain how your app starts, where dependencies live, how a request enters the service, and how you check if it is healthy.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069080"/>
            <a:ext cx="5166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28853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C55E"/>
                </a:solidFill>
              </a:rPr>
              <a:t>✅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63640" y="4069080"/>
            <a:ext cx="73152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42885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projects should show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92240" y="4782312"/>
            <a:ext cx="470916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A clean repo with Dockerfile, requirements.txt, FastAPI endpoints, health route, README commands, and a reproducible run path.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Industry view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17627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1 — Docker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294436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Build once. Run the same way on different machines.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3232" y="3703320"/>
            <a:ext cx="2743200" cy="0"/>
          </a:xfrm>
          <a:prstGeom prst="line">
            <a:avLst/>
          </a:prstGeom>
          <a:noFill/>
          <a:ln w="50800">
            <a:solidFill>
              <a:srgbClr val="1D63ED"/>
            </a:solidFill>
            <a:prstDash val="solid"/>
          </a:ln>
        </p:spPr>
      </p:sp>
      <p:pic>
        <p:nvPicPr>
          <p:cNvPr id="5" name="Image 0" descr="/mnt/data/docker_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240280"/>
            <a:ext cx="292608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Part 1 — Docker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BASICS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Docker solves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108960" y="3063240"/>
            <a:ext cx="11430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891272" y="3063240"/>
            <a:ext cx="11430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22960" y="210312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1D63ED"/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12848"/>
            <a:ext cx="20482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Student laptop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Python 3.12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Package A v1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23317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2441448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Git push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“it works here”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098280" y="210312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71432" y="2212848"/>
            <a:ext cx="20482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College lab/server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Python 3.10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Package A v2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617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Without Docker, your app depends on whatever is installed on the target machine.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55080" y="4617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63ED"/>
                </a:solidFill>
              </a:rPr>
              <a:t>Docker packages the app + dependencies + startup command into one image.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Docker basics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BASICS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Container vs virtual machine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2588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Virtual Machine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25880" y="1874520"/>
            <a:ext cx="374904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9032" y="1984248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25880" y="2377440"/>
            <a:ext cx="3749040" cy="384048"/>
          </a:xfrm>
          <a:prstGeom prst="roundRect">
            <a:avLst>
              <a:gd name="adj" fmla="val 23810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9032" y="2487168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Libraries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25880" y="2880360"/>
            <a:ext cx="3749040" cy="384048"/>
          </a:xfrm>
          <a:prstGeom prst="roundRect">
            <a:avLst>
              <a:gd name="adj" fmla="val 23810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99032" y="2990088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Guest 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25880" y="3383280"/>
            <a:ext cx="3749040" cy="384048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99032" y="3493008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Hypervisor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25880" y="3886200"/>
            <a:ext cx="3749040" cy="384048"/>
          </a:xfrm>
          <a:prstGeom prst="roundRect">
            <a:avLst>
              <a:gd name="adj" fmla="val 23810"/>
            </a:avLst>
          </a:prstGeom>
          <a:solidFill>
            <a:srgbClr val="1D63ED"/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9032" y="3995928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Host 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25880" y="4389120"/>
            <a:ext cx="3749040" cy="384048"/>
          </a:xfrm>
          <a:prstGeom prst="roundRect">
            <a:avLst>
              <a:gd name="adj" fmla="val 23810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99032" y="4498848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Hardware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8660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Container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086600" y="1874520"/>
            <a:ext cx="3749040" cy="438912"/>
          </a:xfrm>
          <a:prstGeom prst="roundRect">
            <a:avLst>
              <a:gd name="adj" fmla="val 20833"/>
            </a:avLst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9752" y="1984248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86600" y="2468880"/>
            <a:ext cx="3749040" cy="438912"/>
          </a:xfrm>
          <a:prstGeom prst="roundRect">
            <a:avLst>
              <a:gd name="adj" fmla="val 20833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9752" y="2578608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Libraries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86600" y="3063240"/>
            <a:ext cx="3749040" cy="438912"/>
          </a:xfrm>
          <a:prstGeom prst="roundRect">
            <a:avLst>
              <a:gd name="adj" fmla="val 20833"/>
            </a:avLst>
          </a:prstGeom>
          <a:solidFill>
            <a:srgbClr val="1D63ED"/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9752" y="3172968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Container Runtime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86600" y="3657600"/>
            <a:ext cx="3749040" cy="438912"/>
          </a:xfrm>
          <a:prstGeom prst="roundRect">
            <a:avLst>
              <a:gd name="adj" fmla="val 20833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9752" y="3767328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Host OS Kernel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86600" y="4251960"/>
            <a:ext cx="3749040" cy="438912"/>
          </a:xfrm>
          <a:prstGeom prst="roundRect">
            <a:avLst>
              <a:gd name="adj" fmla="val 20833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9752" y="4361688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Hardware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97280" y="5074920"/>
            <a:ext cx="10012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25880" y="529437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D63ED"/>
                </a:solidFill>
              </a:rPr>
              <a:t>⚖️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1097280" y="5074920"/>
            <a:ext cx="73152" cy="868680"/>
          </a:xfrm>
          <a:prstGeom prst="rect">
            <a:avLst/>
          </a:prstGeom>
          <a:solidFill>
            <a:srgbClr val="1D63ED"/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0" y="5294376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Key takeaway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25880" y="5788152"/>
            <a:ext cx="9555480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Containers are lighter because they share the host OS kernel. They isolate processes, files, network, and environment enough for app deployment.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Docker basics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BASICS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building blocks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2821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C3AED"/>
                </a:solidFill>
              </a:rPr>
              <a:t>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7282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Dockerfile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221992"/>
            <a:ext cx="29718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Recipe to build an image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150876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72821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D63ED"/>
                </a:solidFill>
              </a:rPr>
              <a:t>🧱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26280" y="1508760"/>
            <a:ext cx="73152" cy="1325880"/>
          </a:xfrm>
          <a:prstGeom prst="rect">
            <a:avLst/>
          </a:prstGeom>
          <a:solidFill>
            <a:srgbClr val="1D63ED"/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17282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Image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221992"/>
            <a:ext cx="29718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Read-only package made from layers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50876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172821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C55E"/>
                </a:solidFill>
              </a:rPr>
              <a:t>▶️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321040" y="1508760"/>
            <a:ext cx="73152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17282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Container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49640" y="2221992"/>
            <a:ext cx="29718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Running process from an image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347472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69417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9688"/>
                </a:solidFill>
              </a:rPr>
              <a:t>☁️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31520" y="3474720"/>
            <a:ext cx="73152" cy="132588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36941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Registry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4187952"/>
            <a:ext cx="29718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Remote place to push/pull images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26280" y="347472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69417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A580C"/>
                </a:solidFill>
              </a:rPr>
              <a:t>💾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526280" y="3474720"/>
            <a:ext cx="73152" cy="1325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36941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Volume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54880" y="4187952"/>
            <a:ext cx="29718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Persistent data outside container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321040" y="347472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369417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F4444"/>
                </a:solidFill>
              </a:rPr>
              <a:t>🔌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8321040" y="3474720"/>
            <a:ext cx="73152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52560" y="36941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Network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49640" y="4187952"/>
            <a:ext cx="29718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How containers talk to each other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Docker basics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 Docker image is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19426" y="2491740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926787" y="2491740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134149" y="2491740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341510" y="2491740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" y="1737360"/>
            <a:ext cx="2006194" cy="1508760"/>
          </a:xfrm>
          <a:prstGeom prst="roundRect">
            <a:avLst>
              <a:gd name="adj" fmla="val 6061"/>
            </a:avLst>
          </a:prstGeom>
          <a:solidFill>
            <a:srgbClr val="7C3AED">
              <a:alpha val="9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01952"/>
            <a:ext cx="2006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2395728"/>
            <a:ext cx="18233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Dockerfile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" y="2706624"/>
            <a:ext cx="17867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instructions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93162" y="1737360"/>
            <a:ext cx="2006194" cy="1508760"/>
          </a:xfrm>
          <a:prstGeom prst="roundRect">
            <a:avLst>
              <a:gd name="adj" fmla="val 6061"/>
            </a:avLst>
          </a:prstGeom>
          <a:solidFill>
            <a:srgbClr val="334155">
              <a:alpha val="98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93162" y="1901952"/>
            <a:ext cx="2006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📁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84602" y="2395728"/>
            <a:ext cx="18233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 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02890" y="2706624"/>
            <a:ext cx="17867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project files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00523" y="1737360"/>
            <a:ext cx="2006194" cy="1508760"/>
          </a:xfrm>
          <a:prstGeom prst="roundRect">
            <a:avLst>
              <a:gd name="adj" fmla="val 6061"/>
            </a:avLst>
          </a:prstGeom>
          <a:solidFill>
            <a:srgbClr val="1D63ED">
              <a:alpha val="98000"/>
            </a:srgbClr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0523" y="1901952"/>
            <a:ext cx="2006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91963" y="2395728"/>
            <a:ext cx="18233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Layers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0251" y="2706624"/>
            <a:ext cx="17867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cached steps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07885" y="1737360"/>
            <a:ext cx="2006194" cy="1508760"/>
          </a:xfrm>
          <a:prstGeom prst="roundRect">
            <a:avLst>
              <a:gd name="adj" fmla="val 6061"/>
            </a:avLst>
          </a:prstGeom>
          <a:solidFill>
            <a:srgbClr val="009688">
              <a:alpha val="98000"/>
            </a:srgbClr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07885" y="1901952"/>
            <a:ext cx="2006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📦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99325" y="2395728"/>
            <a:ext cx="18233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Image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17613" y="2706624"/>
            <a:ext cx="17867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versioned artifact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515246" y="1737360"/>
            <a:ext cx="2006194" cy="1508760"/>
          </a:xfrm>
          <a:prstGeom prst="roundRect">
            <a:avLst>
              <a:gd name="adj" fmla="val 6061"/>
            </a:avLst>
          </a:prstGeom>
          <a:solidFill>
            <a:srgbClr val="22C55E">
              <a:alpha val="98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15246" y="1901952"/>
            <a:ext cx="2006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☁️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06686" y="2395728"/>
            <a:ext cx="18233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Registry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24974" y="2706624"/>
            <a:ext cx="17867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share with team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60120" y="3886200"/>
            <a:ext cx="5074920" cy="1170432"/>
          </a:xfrm>
          <a:prstGeom prst="roundRect">
            <a:avLst>
              <a:gd name="adj" fmla="val 4688"/>
            </a:avLst>
          </a:prstGeom>
          <a:solidFill>
            <a:srgbClr val="0B1220"/>
          </a:solidFill>
          <a:ln w="12700">
            <a:solidFill>
              <a:srgbClr val="1E293B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4712" y="4032504"/>
            <a:ext cx="474573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docker build -t student-api:v1 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docker images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docker push registry.example.com/student-api:v1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3858768"/>
            <a:ext cx="466344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407822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9E0B"/>
                </a:solidFill>
              </a:rPr>
              <a:t>⚡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400800" y="3858768"/>
            <a:ext cx="73152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407822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Layer caching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29400" y="4572000"/>
            <a:ext cx="42062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Docker reuses unchanged build steps. Put slow-changing steps like dependency install before frequently changing source-code copy.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Docker workflow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Container lifecycle commands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1481328"/>
            <a:ext cx="1828800" cy="640080"/>
          </a:xfrm>
          <a:prstGeom prst="roundRect">
            <a:avLst>
              <a:gd name="adj" fmla="val 17143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682496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Build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63240" y="1444752"/>
            <a:ext cx="8001000" cy="713232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12700">
            <a:solidFill>
              <a:srgbClr val="1E293B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27832" y="1591056"/>
            <a:ext cx="76718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docker build -t app:v1 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624328"/>
            <a:ext cx="1828800" cy="640080"/>
          </a:xfrm>
          <a:prstGeom prst="roundRect">
            <a:avLst>
              <a:gd name="adj" fmla="val 17143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25496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Run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63240" y="2587752"/>
            <a:ext cx="8001000" cy="713232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12700">
            <a:solidFill>
              <a:srgbClr val="1E293B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2734056"/>
            <a:ext cx="76718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docker run -p 8000:8000 app:v1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3767328"/>
            <a:ext cx="1828800" cy="640080"/>
          </a:xfrm>
          <a:prstGeom prst="roundRect">
            <a:avLst>
              <a:gd name="adj" fmla="val 17143"/>
            </a:avLst>
          </a:prstGeom>
          <a:solidFill>
            <a:srgbClr val="1D63ED"/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68496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Inspect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63240" y="3730752"/>
            <a:ext cx="8001000" cy="713232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12700">
            <a:solidFill>
              <a:srgbClr val="1E293B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27832" y="3877056"/>
            <a:ext cx="76718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docker ps / docker logs / docker exec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4910328"/>
            <a:ext cx="1828800" cy="640080"/>
          </a:xfrm>
          <a:prstGeom prst="roundRect">
            <a:avLst>
              <a:gd name="adj" fmla="val 17143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5111496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Stop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063240" y="4873752"/>
            <a:ext cx="8001000" cy="713232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12700">
            <a:solidFill>
              <a:srgbClr val="1E293B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5020056"/>
            <a:ext cx="76718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docker stop &lt;container&gt;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97280" y="5669280"/>
            <a:ext cx="97840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588873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F4444"/>
                </a:solidFill>
              </a:rPr>
              <a:t>❗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97280" y="5669280"/>
            <a:ext cx="73152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5888736"/>
            <a:ext cx="8823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Important distinction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6382512"/>
            <a:ext cx="932688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An image can exist without running. A container is the running instance created from an image.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Docker workflow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Dockerfile anatomy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623560" cy="4343400"/>
          </a:xfrm>
          <a:prstGeom prst="roundRect">
            <a:avLst>
              <a:gd name="adj" fmla="val 1263"/>
            </a:avLst>
          </a:prstGeom>
          <a:solidFill>
            <a:srgbClr val="0B1220"/>
          </a:solidFill>
          <a:ln w="12700">
            <a:solidFill>
              <a:srgbClr val="1E293B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517904"/>
            <a:ext cx="529437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python:3.12-slim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WORKDIR /app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COPY requirements.txt .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RUN pip install --no-cache-dir -r requirements.txt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COPY . .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EXPOSE 8000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CMD ["uvicorn", "main:app", "--host", "0.0.0.0", "--port", "8000"]</a:t>
            </a:r>
            <a:endParaRPr lang="en-US" sz="1230" dirty="0"/>
          </a:p>
        </p:txBody>
      </p:sp>
      <p:sp>
        <p:nvSpPr>
          <p:cNvPr id="6" name="Shape 4"/>
          <p:cNvSpPr/>
          <p:nvPr/>
        </p:nvSpPr>
        <p:spPr>
          <a:xfrm>
            <a:off x="6720840" y="1417320"/>
            <a:ext cx="44805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20840" y="1417320"/>
            <a:ext cx="73152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63677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FROM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0" y="2130552"/>
            <a:ext cx="402336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Base operating environment + Python runtime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20840" y="2478024"/>
            <a:ext cx="44805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20840" y="2478024"/>
            <a:ext cx="73152" cy="841248"/>
          </a:xfrm>
          <a:prstGeom prst="rect">
            <a:avLst/>
          </a:prstGeom>
          <a:solidFill>
            <a:srgbClr val="1D63ED"/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2697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WORKDIR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3191256"/>
            <a:ext cx="402336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Default folder inside the image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20840" y="3538728"/>
            <a:ext cx="44805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3538728"/>
            <a:ext cx="73152" cy="841248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37581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COPY/RUN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49440" y="4251960"/>
            <a:ext cx="402336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Bring files in and install dependencies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20840" y="4599432"/>
            <a:ext cx="44805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4599432"/>
            <a:ext cx="73152" cy="8412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48188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EXPOSE/CMD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5312664"/>
            <a:ext cx="402336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Document port and define startup command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Docker workflow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Ports, volumes, and environment variables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9105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D63ED"/>
                </a:solidFill>
              </a:rPr>
              <a:t>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73152" cy="1920240"/>
          </a:xfrm>
          <a:prstGeom prst="rect">
            <a:avLst/>
          </a:prstGeom>
          <a:solidFill>
            <a:srgbClr val="1D63ED"/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59105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Ports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084832"/>
            <a:ext cx="301752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Container port is inside. Host port is outside.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Example: -p 8080:8000 means host 8080 → container 8000.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13716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59105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A580C"/>
                </a:solidFill>
              </a:rPr>
              <a:t>💾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70832" y="1371600"/>
            <a:ext cx="73152" cy="1920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2352" y="159105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Volumes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2084832"/>
            <a:ext cx="301752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Data stored inside a container can disappear when the container is removed. Volumes keep data outside the container lifecycle.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73568" y="13716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159105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9688"/>
                </a:solidFill>
              </a:rPr>
              <a:t>⚙️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973568" y="1371600"/>
            <a:ext cx="73152" cy="19202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05088" y="159105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Env vars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02168" y="2084832"/>
            <a:ext cx="301752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Configuration should not be hardcoded. Pass values like API keys, DB URLs, and mode using environment variables.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371600" y="4069080"/>
            <a:ext cx="9509760" cy="1115568"/>
          </a:xfrm>
          <a:prstGeom prst="roundRect">
            <a:avLst>
              <a:gd name="adj" fmla="val 4918"/>
            </a:avLst>
          </a:prstGeom>
          <a:solidFill>
            <a:srgbClr val="0B1220"/>
          </a:solidFill>
          <a:ln w="12700">
            <a:solidFill>
              <a:srgbClr val="1E293B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36192" y="4215384"/>
            <a:ext cx="918057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docker run --env APP_ENV=dev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-p 8080:8000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-v ./data:/app/data \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student-api:v1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Docker workflow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Compose: one command for multiple services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4800600" cy="3520440"/>
          </a:xfrm>
          <a:prstGeom prst="roundRect">
            <a:avLst>
              <a:gd name="adj" fmla="val 1558"/>
            </a:avLst>
          </a:prstGeom>
          <a:solidFill>
            <a:srgbClr val="0B1220"/>
          </a:solidFill>
          <a:ln w="12700">
            <a:solidFill>
              <a:srgbClr val="1E293B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472184"/>
            <a:ext cx="44714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services: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api: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build: 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ports: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- "8000:8000"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environment: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- APP_ENV=dev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redis: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image: redis:7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70648" y="2560320"/>
            <a:ext cx="144475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470648" y="3794760"/>
            <a:ext cx="144475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355080" y="205740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2167128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FastAPI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container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329184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3401568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Redis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container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06840" y="26060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D63ED"/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79992" y="2715768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Shared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Compose network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507492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529437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C3AED"/>
                </a:solidFill>
              </a:rPr>
              <a:t>🧪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035040" y="5074920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52943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When to use 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5788152"/>
            <a:ext cx="489204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Local development, demos, teaching labs, and small systems with multiple containers. It is not Kubernetes.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Docker workflow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17627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2 — FastAPI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294436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Build clear Python APIs with validation, docs, and async support.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3232" y="3703320"/>
            <a:ext cx="2743200" cy="0"/>
          </a:xfrm>
          <a:prstGeom prst="line">
            <a:avLst/>
          </a:prstGeom>
          <a:noFill/>
          <a:ln w="50800">
            <a:solidFill>
              <a:srgbClr val="009688"/>
            </a:solidFill>
            <a:prstDash val="solid"/>
          </a:ln>
        </p:spPr>
      </p:sp>
      <p:pic>
        <p:nvPicPr>
          <p:cNvPr id="5" name="Image 0" descr="/mnt/data/fastap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240280"/>
            <a:ext cx="292608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Part 2 — FastAPI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BASICS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an API?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34640" y="2926080"/>
            <a:ext cx="17373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406640" y="2926080"/>
            <a:ext cx="17373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31520" y="224028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1D63ED"/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350008"/>
            <a:ext cx="2048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Client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Browser / App / Script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224028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2350008"/>
            <a:ext cx="26426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HTTP Request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GET /health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 /predict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0" y="2240280"/>
            <a:ext cx="2240280" cy="1371600"/>
          </a:xfrm>
          <a:prstGeom prst="roundRect">
            <a:avLst>
              <a:gd name="adj" fmla="val 6667"/>
            </a:avLst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2350008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API Server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Python logic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343400"/>
            <a:ext cx="10378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An API is a contract: the client sends a request in a defined format and expects a response in a defined format.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FastAPI basics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BASICS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FastAPI: what it gives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4533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9688"/>
                </a:solidFill>
              </a:rPr>
              <a:t>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3152" cy="132588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5453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Type hints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039112"/>
            <a:ext cx="29718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Uses Python type hints to validate and document inputs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35424" y="132588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4024" y="154533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C3AED"/>
                </a:solidFill>
              </a:rPr>
              <a:t>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35424" y="132588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6944" y="15453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Pydantic models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4024" y="2039112"/>
            <a:ext cx="29718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Structured request and response schemas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39328" y="132588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67928" y="154533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D63ED"/>
                </a:solidFill>
              </a:rPr>
              <a:t>📘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339328" y="1325880"/>
            <a:ext cx="73152" cy="1325880"/>
          </a:xfrm>
          <a:prstGeom prst="rect">
            <a:avLst/>
          </a:prstGeom>
          <a:solidFill>
            <a:srgbClr val="1D63ED"/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0848" y="15453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Auto docs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67928" y="2039112"/>
            <a:ext cx="29718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Interactive Swagger/OpenAPI docs out of the box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324612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46557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A580C"/>
                </a:solidFill>
              </a:rPr>
              <a:t>⚡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31520" y="3246120"/>
            <a:ext cx="73152" cy="1325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34655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Async support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959352"/>
            <a:ext cx="29718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Handles I/O-heavy work cleanly with async/await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35424" y="324612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64024" y="346557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C55E"/>
                </a:solidFill>
              </a:rPr>
              <a:t>🧩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535424" y="3246120"/>
            <a:ext cx="73152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66944" y="34655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Dependency injection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64024" y="3959352"/>
            <a:ext cx="29718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Reusable auth, DB sessions, config, and shared logic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339328" y="324612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67928" y="346557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F4444"/>
                </a:solidFill>
              </a:rPr>
              <a:t>🚀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8339328" y="3246120"/>
            <a:ext cx="73152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70848" y="34655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Production path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67928" y="3959352"/>
            <a:ext cx="29718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Runs through ASGI servers like Uvicorn or Gunicorn workers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FastAPI basics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INTERNALS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 request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98192" y="2331720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175760" y="2331720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53328" y="2331720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930896" y="2331720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808464" y="2331720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4360" y="1554480"/>
            <a:ext cx="1676400" cy="1554480"/>
          </a:xfrm>
          <a:prstGeom prst="roundRect">
            <a:avLst>
              <a:gd name="adj" fmla="val 5882"/>
            </a:avLst>
          </a:prstGeom>
          <a:solidFill>
            <a:srgbClr val="1D63ED">
              <a:alpha val="98000"/>
            </a:srgbClr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19072"/>
            <a:ext cx="167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2212848"/>
            <a:ext cx="149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" y="2523744"/>
            <a:ext cx="1456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HTTP call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71928" y="1554480"/>
            <a:ext cx="1676400" cy="1554480"/>
          </a:xfrm>
          <a:prstGeom prst="roundRect">
            <a:avLst>
              <a:gd name="adj" fmla="val 5882"/>
            </a:avLst>
          </a:prstGeom>
          <a:solidFill>
            <a:srgbClr val="334155">
              <a:alpha val="98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71928" y="1719072"/>
            <a:ext cx="167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🛰️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63368" y="2212848"/>
            <a:ext cx="149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Uvicorn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81656" y="2523744"/>
            <a:ext cx="1456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ASGI server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49496" y="1554480"/>
            <a:ext cx="1676400" cy="1554480"/>
          </a:xfrm>
          <a:prstGeom prst="roundRect">
            <a:avLst>
              <a:gd name="adj" fmla="val 5882"/>
            </a:avLst>
          </a:prstGeom>
          <a:solidFill>
            <a:srgbClr val="7C3AED">
              <a:alpha val="9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9496" y="1719072"/>
            <a:ext cx="167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🧭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40936" y="2212848"/>
            <a:ext cx="149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Router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59224" y="2523744"/>
            <a:ext cx="1456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match path + method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27064" y="1554480"/>
            <a:ext cx="1676400" cy="1554480"/>
          </a:xfrm>
          <a:prstGeom prst="roundRect">
            <a:avLst>
              <a:gd name="adj" fmla="val 5882"/>
            </a:avLst>
          </a:prstGeom>
          <a:solidFill>
            <a:srgbClr val="009688">
              <a:alpha val="98000"/>
            </a:srgbClr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7064" y="1719072"/>
            <a:ext cx="167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18504" y="2212848"/>
            <a:ext cx="149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36792" y="2523744"/>
            <a:ext cx="1456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Pydantic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04632" y="1554480"/>
            <a:ext cx="1676400" cy="1554480"/>
          </a:xfrm>
          <a:prstGeom prst="roundRect">
            <a:avLst>
              <a:gd name="adj" fmla="val 5882"/>
            </a:avLst>
          </a:prstGeom>
          <a:solidFill>
            <a:srgbClr val="EA580C">
              <a:alpha val="98000"/>
            </a:srgbClr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04632" y="1719072"/>
            <a:ext cx="167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⚙️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196072" y="2212848"/>
            <a:ext cx="149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Handler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14360" y="2523744"/>
            <a:ext cx="1456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Python function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982200" y="1554480"/>
            <a:ext cx="1676400" cy="1554480"/>
          </a:xfrm>
          <a:prstGeom prst="roundRect">
            <a:avLst>
              <a:gd name="adj" fmla="val 5882"/>
            </a:avLst>
          </a:prstGeom>
          <a:solidFill>
            <a:srgbClr val="22C55E">
              <a:alpha val="98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82200" y="1719072"/>
            <a:ext cx="167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📤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073640" y="2212848"/>
            <a:ext cx="149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91928" y="2523744"/>
            <a:ext cx="1456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JSON + status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60120" y="3931920"/>
            <a:ext cx="102412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88720" y="415137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9688"/>
                </a:solidFill>
              </a:rPr>
              <a:t>🧠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960120" y="3931920"/>
            <a:ext cx="73152" cy="12344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91640" y="415137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Core idea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88720" y="4645152"/>
            <a:ext cx="978408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Your function is not directly called by the browser. The ASGI server receives the network request, FastAPI routes it, validates data, runs your function, and serializes the response.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FastAPI internals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CODE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Minimal FastAPI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27632"/>
            <a:ext cx="5852160" cy="4389120"/>
          </a:xfrm>
          <a:prstGeom prst="roundRect">
            <a:avLst>
              <a:gd name="adj" fmla="val 1250"/>
            </a:avLst>
          </a:prstGeom>
          <a:solidFill>
            <a:srgbClr val="0B1220"/>
          </a:solidFill>
          <a:ln w="12700">
            <a:solidFill>
              <a:srgbClr val="1E293B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472184"/>
            <a:ext cx="5522976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</a:t>
            </a:r>
            <a:r>
              <a:rPr lang="en-US" sz="1200" dirty="0" err="1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fastapi</a:t>
            </a:r>
            <a:r>
              <a:rPr lang="en-US" sz="12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import </a:t>
            </a:r>
            <a:r>
              <a:rPr lang="en-US" sz="1200" dirty="0" err="1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FastAPI</a:t>
            </a:r>
            <a:r>
              <a:rPr lang="en-US" sz="12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, </a:t>
            </a:r>
            <a:r>
              <a:rPr lang="en-US" sz="1200" dirty="0" err="1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UploadFile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 = </a:t>
            </a:r>
            <a:r>
              <a:rPr lang="en-US" sz="1200" dirty="0" err="1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FastAPI</a:t>
            </a:r>
            <a:r>
              <a:rPr lang="en-US" sz="12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()</a:t>
            </a:r>
            <a:endParaRPr lang="en-US" sz="1200" dirty="0"/>
          </a:p>
          <a:p>
            <a:r>
              <a:rPr lang="en-US" sz="12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model = </a:t>
            </a:r>
            <a:r>
              <a:rPr lang="en-US" sz="1200" dirty="0" err="1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load_model</a:t>
            </a:r>
            <a:r>
              <a:rPr lang="en-US" sz="12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("model.pt")</a:t>
            </a:r>
            <a:endParaRPr lang="en-US" sz="1200" dirty="0"/>
          </a:p>
          <a:p>
            <a:r>
              <a:rPr lang="en-US" sz="12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classes = ["ok", "defect"]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@app.get("/health")</a:t>
            </a:r>
            <a:endParaRPr lang="en-US" sz="1200" dirty="0"/>
          </a:p>
          <a:p>
            <a:r>
              <a:rPr lang="en-US" sz="12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health():</a:t>
            </a:r>
            <a:endParaRPr lang="en-US" sz="1200" dirty="0"/>
          </a:p>
          <a:p>
            <a:r>
              <a:rPr lang="en-US" sz="12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{"status": "ok"}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@app.post("/predict")</a:t>
            </a:r>
            <a:endParaRPr lang="en-US" sz="1200" dirty="0"/>
          </a:p>
          <a:p>
            <a:r>
              <a:rPr lang="en-US" sz="12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async def predict(file: </a:t>
            </a:r>
            <a:r>
              <a:rPr lang="en-US" sz="1200" dirty="0" err="1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UploadFile</a:t>
            </a:r>
            <a:r>
              <a:rPr lang="en-US" sz="12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):</a:t>
            </a:r>
            <a:endParaRPr lang="en-US" sz="1200" dirty="0"/>
          </a:p>
          <a:p>
            <a:r>
              <a:rPr lang="en-US" sz="12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image = preprocess(await </a:t>
            </a:r>
            <a:r>
              <a:rPr lang="en-US" sz="1200" dirty="0" err="1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file.read</a:t>
            </a:r>
            <a:r>
              <a:rPr lang="en-US" sz="12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())</a:t>
            </a:r>
            <a:endParaRPr lang="en-US" sz="1200" dirty="0"/>
          </a:p>
          <a:p>
            <a:r>
              <a:rPr lang="en-US" sz="12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prob = </a:t>
            </a:r>
            <a:r>
              <a:rPr lang="en-US" sz="1200" dirty="0" err="1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model_predict</a:t>
            </a:r>
            <a:r>
              <a:rPr lang="en-US" sz="12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(model, image)</a:t>
            </a:r>
            <a:endParaRPr lang="en-US" sz="1200" dirty="0"/>
          </a:p>
          <a:p>
            <a:r>
              <a:rPr lang="en-US" sz="12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{"class": classes[argmax(prob)],</a:t>
            </a:r>
            <a:endParaRPr lang="en-US" sz="1200" dirty="0"/>
          </a:p>
          <a:p>
            <a:r>
              <a:rPr lang="en-US" sz="1200" dirty="0">
                <a:solidFill>
                  <a:srgbClr val="D8F3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"confidence": float(max(prob))}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903720" y="1572768"/>
            <a:ext cx="43891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179222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9688"/>
                </a:solidFill>
              </a:rPr>
              <a:t>🔍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903720" y="1572768"/>
            <a:ext cx="73152" cy="14630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179222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students must notice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0" y="2286000"/>
            <a:ext cx="39319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/health is a GET endpoint. /predict is a POST endpoint. PredictRequest defines the request body and validation rules.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03720" y="3703320"/>
            <a:ext cx="4389120" cy="868680"/>
          </a:xfrm>
          <a:prstGeom prst="roundRect">
            <a:avLst>
              <a:gd name="adj" fmla="val 6316"/>
            </a:avLst>
          </a:prstGeom>
          <a:solidFill>
            <a:srgbClr val="0B1220"/>
          </a:solidFill>
          <a:ln w="12700">
            <a:solidFill>
              <a:srgbClr val="1E293B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68312" y="3849624"/>
            <a:ext cx="4059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uvicorn main:app --reload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Visit: http://localhost:8000/docs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FastAPI code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CODE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 methods and status codes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5389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71800" y="142646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Read data  •  /health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D63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23113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220370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Create or process  •  /predict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0083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PUT/PATCH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71800" y="298094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Update  •  /users/{id}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7856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DELETE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375818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Remove  •  /items/{id}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43800" y="132588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16952" y="1435608"/>
            <a:ext cx="1271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200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72600" y="132588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1D63ED"/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45752" y="1435608"/>
            <a:ext cx="1271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201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Created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43800" y="237744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16952" y="2487168"/>
            <a:ext cx="1271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400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Bad request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72600" y="237744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45752" y="2487168"/>
            <a:ext cx="1271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404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Not found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43800" y="342900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16952" y="3538728"/>
            <a:ext cx="1271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500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Server error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5120640"/>
            <a:ext cx="102870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34009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F4444"/>
                </a:solidFill>
              </a:rPr>
              <a:t>⚠️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14400" y="5120640"/>
            <a:ext cx="73152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0" y="5340096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Don’t fake success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43000" y="5833872"/>
            <a:ext cx="982980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Bad input should not return 200. Correct status codes make APIs debuggable and professional.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FastAPI code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 FastAPI project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4937760" cy="3977640"/>
          </a:xfrm>
          <a:prstGeom prst="roundRect">
            <a:avLst>
              <a:gd name="adj" fmla="val 1379"/>
            </a:avLst>
          </a:prstGeom>
          <a:solidFill>
            <a:srgbClr val="0B1220"/>
          </a:solidFill>
          <a:ln w="12700">
            <a:solidFill>
              <a:srgbClr val="1E293B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563624"/>
            <a:ext cx="460857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student_api/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app/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main.py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routes/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health.py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predict.py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schemas/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request.py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response.py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services/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model_service.py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requirements.txt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Dockerfile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README.md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95681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9688"/>
                </a:solidFill>
              </a:rPr>
              <a:t>🏗️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73152" cy="13716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95681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Why structure matters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450592"/>
            <a:ext cx="43891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Small demos can live in one file. Real projects should separate routes, schemas, business logic, and deployment files.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396849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F4444"/>
                </a:solidFill>
              </a:rPr>
              <a:t>🧹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73152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396849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Simple rule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4462272"/>
            <a:ext cx="43891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Routes should call services. They should not contain all model loading, database logic, and file handling in the endpoint function.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FastAPI project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17627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3 — Together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294436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Containerize a FastAPI app and run it like a real service.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3232" y="3703320"/>
            <a:ext cx="2743200" cy="0"/>
          </a:xfrm>
          <a:prstGeom prst="line">
            <a:avLst/>
          </a:prstGeom>
          <a:noFill/>
          <a:ln w="508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Part 3 — Together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+ FASTAPI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Containerizing FastAPI: files you need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5897880" cy="4846320"/>
          </a:xfrm>
          <a:prstGeom prst="roundRect">
            <a:avLst>
              <a:gd name="adj" fmla="val 1132"/>
            </a:avLst>
          </a:prstGeom>
          <a:solidFill>
            <a:srgbClr val="0B1220"/>
          </a:solidFill>
          <a:ln w="12700">
            <a:solidFill>
              <a:srgbClr val="1E293B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426464"/>
            <a:ext cx="556869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requirements.txt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fastapi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uvicorn[standard]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pydantic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Dockerfile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python:3.12-slim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WORKDIR /app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COPY requirements.txt 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RUN pip install --no-cache-dir -r requirements.txt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COPY app ./app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CMD ["uvicorn", "app.main:app", "--host", "0.0.0.0", "--port", "8000"]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49440" y="1600200"/>
            <a:ext cx="43891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181965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D63ED"/>
                </a:solidFill>
              </a:rPr>
              <a:t>📦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949440" y="1600200"/>
            <a:ext cx="73152" cy="822960"/>
          </a:xfrm>
          <a:prstGeom prst="rect">
            <a:avLst/>
          </a:prstGeom>
          <a:solidFill>
            <a:srgbClr val="1D63ED"/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18196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Build command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78040" y="2313432"/>
            <a:ext cx="393192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docker build -t fastapi-demo:v1 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49440" y="2788920"/>
            <a:ext cx="43891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300837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C55E"/>
                </a:solidFill>
              </a:rPr>
              <a:t>▶️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949440" y="2788920"/>
            <a:ext cx="73152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30083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Run command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78040" y="3502152"/>
            <a:ext cx="393192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docker run -p 8000:8000 fastapi-demo:v1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3977640"/>
            <a:ext cx="43891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419709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9688"/>
                </a:solidFill>
              </a:rPr>
              <a:t>🧪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949440" y="3977640"/>
            <a:ext cx="73152" cy="82296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419709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Test command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78040" y="4690872"/>
            <a:ext cx="393192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curl http://localhost:8000/health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Docker + FastAPI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+ FASTAPI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flow students should explain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29612" y="2203704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130040" y="2203704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30468" y="2203704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930896" y="2203704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831324" y="2203704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1417320"/>
            <a:ext cx="1699260" cy="1572768"/>
          </a:xfrm>
          <a:prstGeom prst="roundRect">
            <a:avLst>
              <a:gd name="adj" fmla="val 5814"/>
            </a:avLst>
          </a:prstGeom>
          <a:solidFill>
            <a:srgbClr val="334155">
              <a:alpha val="98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81912"/>
            <a:ext cx="1699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👨‍💻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2075688"/>
            <a:ext cx="151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Write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" y="2386584"/>
            <a:ext cx="14798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main.py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03348" y="1417320"/>
            <a:ext cx="1699260" cy="1572768"/>
          </a:xfrm>
          <a:prstGeom prst="roundRect">
            <a:avLst>
              <a:gd name="adj" fmla="val 5814"/>
            </a:avLst>
          </a:prstGeom>
          <a:solidFill>
            <a:srgbClr val="7C3AED">
              <a:alpha val="9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03348" y="1581912"/>
            <a:ext cx="1699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94788" y="2075688"/>
            <a:ext cx="151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Dockerfile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3076" y="2386584"/>
            <a:ext cx="14798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startup command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03776" y="1417320"/>
            <a:ext cx="1699260" cy="1572768"/>
          </a:xfrm>
          <a:prstGeom prst="roundRect">
            <a:avLst>
              <a:gd name="adj" fmla="val 5814"/>
            </a:avLst>
          </a:prstGeom>
          <a:solidFill>
            <a:srgbClr val="1D63ED">
              <a:alpha val="98000"/>
            </a:srgbClr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03776" y="1581912"/>
            <a:ext cx="1699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📦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95216" y="2075688"/>
            <a:ext cx="151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 image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13504" y="2386584"/>
            <a:ext cx="14798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docker build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04204" y="1417320"/>
            <a:ext cx="1699260" cy="1572768"/>
          </a:xfrm>
          <a:prstGeom prst="roundRect">
            <a:avLst>
              <a:gd name="adj" fmla="val 5814"/>
            </a:avLst>
          </a:prstGeom>
          <a:solidFill>
            <a:srgbClr val="22C55E">
              <a:alpha val="98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4204" y="1581912"/>
            <a:ext cx="1699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▶️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95644" y="2075688"/>
            <a:ext cx="151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Run container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13932" y="2386584"/>
            <a:ext cx="14798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docker run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04632" y="1417320"/>
            <a:ext cx="1699260" cy="1572768"/>
          </a:xfrm>
          <a:prstGeom prst="roundRect">
            <a:avLst>
              <a:gd name="adj" fmla="val 5814"/>
            </a:avLst>
          </a:prstGeom>
          <a:solidFill>
            <a:srgbClr val="009688">
              <a:alpha val="98000"/>
            </a:srgbClr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04632" y="1581912"/>
            <a:ext cx="1699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🌐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196072" y="2075688"/>
            <a:ext cx="151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Call API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14360" y="2386584"/>
            <a:ext cx="14798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curl /docs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005060" y="1417320"/>
            <a:ext cx="1699260" cy="1572768"/>
          </a:xfrm>
          <a:prstGeom prst="roundRect">
            <a:avLst>
              <a:gd name="adj" fmla="val 5814"/>
            </a:avLst>
          </a:prstGeom>
          <a:solidFill>
            <a:srgbClr val="EA580C">
              <a:alpha val="98000"/>
            </a:srgbClr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05060" y="1581912"/>
            <a:ext cx="1699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📋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096500" y="2075688"/>
            <a:ext cx="151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Observe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14788" y="2386584"/>
            <a:ext cx="14798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logs + health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14400" y="382219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</a:rPr>
              <a:t>A deployable API is more than working Python code.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828800" y="45262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>
                <a:solidFill>
                  <a:srgbClr val="1E293B"/>
                </a:solidFill>
              </a:rPr>
              <a:t>It must start predictably.</a:t>
            </a:r>
            <a:endParaRPr lang="en-US" sz="1700" dirty="0"/>
          </a:p>
          <a:p>
            <a:r>
              <a:rPr lang="en-US" sz="1700" dirty="0">
                <a:solidFill>
                  <a:srgbClr val="1E293B"/>
                </a:solidFill>
              </a:rPr>
              <a:t>It must expose clear endpoints.</a:t>
            </a:r>
            <a:endParaRPr lang="en-US" sz="1700" dirty="0"/>
          </a:p>
          <a:p>
            <a:r>
              <a:rPr lang="en-US" sz="1700" dirty="0">
                <a:solidFill>
                  <a:srgbClr val="1E293B"/>
                </a:solidFill>
              </a:rPr>
              <a:t>It must be testable from outside.</a:t>
            </a:r>
            <a:endParaRPr lang="en-US" sz="1700" dirty="0"/>
          </a:p>
          <a:p>
            <a:r>
              <a:rPr lang="en-US" sz="1700" dirty="0">
                <a:solidFill>
                  <a:srgbClr val="1E293B"/>
                </a:solidFill>
              </a:rPr>
              <a:t>It must give health/log signals when something breaks.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Docker + FastAPI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+ FASTAPI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Debugging map: where can it fail?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353312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50876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Build fails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77640" y="149961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requirements.txt, base image, COPY path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130552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EA58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28600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Container exits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77640" y="227685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CMD wrong, import error, missing env var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907792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D63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06324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Port not reachable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77640" y="305409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wrong -p mapping, app bound to 127.0.0.1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685032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84048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returns 422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77640" y="383133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request body does not match Pydantic schema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462272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096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461772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returns 500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77640" y="460857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bug inside route/service logic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325880" y="5532120"/>
            <a:ext cx="9555480" cy="731520"/>
          </a:xfrm>
          <a:prstGeom prst="roundRect">
            <a:avLst>
              <a:gd name="adj" fmla="val 7500"/>
            </a:avLst>
          </a:prstGeom>
          <a:solidFill>
            <a:srgbClr val="0B1220"/>
          </a:solidFill>
          <a:ln w="12700">
            <a:solidFill>
              <a:srgbClr val="1E293B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90472" y="5678424"/>
            <a:ext cx="9226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Useful commands: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docker logs &lt;container&gt;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docker exec -it &lt;container&gt; sh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docker inspect &lt;container&gt;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curl -v http://localhost:8000/health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Docker + FastAPI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ACTIVITY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project: deploy an image classifier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4533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9688"/>
                </a:solidFill>
              </a:rPr>
              <a:t>🌐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73152" cy="13716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5453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Required endpoints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039112"/>
            <a:ext cx="29260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GET /health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GET /model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POST /predict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07408" y="132588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54533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D63ED"/>
                </a:solidFill>
              </a:rPr>
              <a:t>📦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407408" y="1325880"/>
            <a:ext cx="73152" cy="1371600"/>
          </a:xfrm>
          <a:prstGeom prst="rect">
            <a:avLst/>
          </a:prstGeom>
          <a:solidFill>
            <a:srgbClr val="1D63ED"/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38928" y="15453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Required Docker items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36008" y="2039112"/>
            <a:ext cx="29260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Dockerfile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requirements.txt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README run commands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28432" y="132588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154533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C55E"/>
                </a:solidFill>
              </a:rPr>
              <a:t>✅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28432" y="1325880"/>
            <a:ext cx="73152" cy="1371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59952" y="15453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Required evidence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57032" y="2039112"/>
            <a:ext cx="29260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Screenshot of /docs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Successful curl result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Docker logs screenshot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97280" y="3749040"/>
            <a:ext cx="9966960" cy="1417320"/>
          </a:xfrm>
          <a:prstGeom prst="roundRect">
            <a:avLst>
              <a:gd name="adj" fmla="val 3871"/>
            </a:avLst>
          </a:prstGeom>
          <a:solidFill>
            <a:srgbClr val="0B1220"/>
          </a:solidFill>
          <a:ln w="12700">
            <a:solidFill>
              <a:srgbClr val="1E293B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1872" y="3895344"/>
            <a:ext cx="9637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POST /predict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Request:  image file or image path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Response: {"class": "cat", "confidence": 0.91}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GET /model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Response: {"name": "demo-cnn", "version": "v1"}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Student activity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mistakes to call out clearly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48920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3677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F4444"/>
                </a:solidFill>
              </a:rPr>
              <a:t>✖️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73152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6367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Using localhost inside container incorrectly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130552"/>
            <a:ext cx="44348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localhost inside the container is not the host machine.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48920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63677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A580C"/>
                </a:solidFill>
              </a:rPr>
              <a:t>✖️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73152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6367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Binding FastAPI to 127.0.0.1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130552"/>
            <a:ext cx="44348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Use --host 0.0.0.0 so it accepts external container traffic.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2834640"/>
            <a:ext cx="48920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05409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D63ED"/>
                </a:solidFill>
              </a:rPr>
              <a:t>✖️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68680" y="2834640"/>
            <a:ext cx="73152" cy="960120"/>
          </a:xfrm>
          <a:prstGeom prst="rect">
            <a:avLst/>
          </a:prstGeom>
          <a:solidFill>
            <a:srgbClr val="1D63ED"/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0200" y="30540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Wrong port order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547872"/>
            <a:ext cx="44348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-p host_port:container_port, not the reverse.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2834640"/>
            <a:ext cx="48920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05409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C3AED"/>
                </a:solidFill>
              </a:rPr>
              <a:t>✖️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309360" y="2834640"/>
            <a:ext cx="73152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30540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Putting secrets in Dockerfile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3547872"/>
            <a:ext cx="44348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Use env vars or secret management.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68680" y="4251960"/>
            <a:ext cx="48920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47141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9688"/>
                </a:solidFill>
              </a:rPr>
              <a:t>✖️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68680" y="4251960"/>
            <a:ext cx="73152" cy="9601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00200" y="44714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No health endpoint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4965192"/>
            <a:ext cx="44348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Without health, you cannot safely automate deployment checks.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Checklist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3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8778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practice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74290" y="2263140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945075" y="2263140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115861" y="2263140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286646" y="2263140"/>
            <a:ext cx="128016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7240" y="1508760"/>
            <a:ext cx="1969618" cy="1508760"/>
          </a:xfrm>
          <a:prstGeom prst="roundRect">
            <a:avLst>
              <a:gd name="adj" fmla="val 6061"/>
            </a:avLst>
          </a:prstGeom>
          <a:solidFill>
            <a:srgbClr val="009688">
              <a:alpha val="98000"/>
            </a:srgbClr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73352"/>
            <a:ext cx="1969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1️⃣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2167128"/>
            <a:ext cx="1786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Run locally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2478024"/>
            <a:ext cx="17501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uvicorn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48026" y="1508760"/>
            <a:ext cx="1969618" cy="1508760"/>
          </a:xfrm>
          <a:prstGeom prst="roundRect">
            <a:avLst>
              <a:gd name="adj" fmla="val 6061"/>
            </a:avLst>
          </a:prstGeom>
          <a:solidFill>
            <a:srgbClr val="7C3AED">
              <a:alpha val="9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8026" y="1673352"/>
            <a:ext cx="1969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2️⃣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39466" y="2167128"/>
            <a:ext cx="1786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Add validation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57754" y="2478024"/>
            <a:ext cx="17501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Pydantic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18811" y="1508760"/>
            <a:ext cx="1969618" cy="1508760"/>
          </a:xfrm>
          <a:prstGeom prst="roundRect">
            <a:avLst>
              <a:gd name="adj" fmla="val 6061"/>
            </a:avLst>
          </a:prstGeom>
          <a:solidFill>
            <a:srgbClr val="1D63ED">
              <a:alpha val="98000"/>
            </a:srgbClr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18811" y="1673352"/>
            <a:ext cx="1969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3️⃣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10251" y="2167128"/>
            <a:ext cx="1786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Containerize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28539" y="2478024"/>
            <a:ext cx="17501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Dockerfile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89597" y="1508760"/>
            <a:ext cx="1969618" cy="1508760"/>
          </a:xfrm>
          <a:prstGeom prst="roundRect">
            <a:avLst>
              <a:gd name="adj" fmla="val 6061"/>
            </a:avLst>
          </a:prstGeom>
          <a:solidFill>
            <a:srgbClr val="EA580C">
              <a:alpha val="98000"/>
            </a:srgbClr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89597" y="1673352"/>
            <a:ext cx="1969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4️⃣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81037" y="2167128"/>
            <a:ext cx="1786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Compose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99325" y="2478024"/>
            <a:ext cx="17501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API + DB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460382" y="1508760"/>
            <a:ext cx="1969618" cy="1508760"/>
          </a:xfrm>
          <a:prstGeom prst="roundRect">
            <a:avLst>
              <a:gd name="adj" fmla="val 6061"/>
            </a:avLst>
          </a:prstGeom>
          <a:solidFill>
            <a:srgbClr val="22C55E">
              <a:alpha val="98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60382" y="1673352"/>
            <a:ext cx="1969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5️⃣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551822" y="2167128"/>
            <a:ext cx="1786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Monitor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70110" y="2478024"/>
            <a:ext cx="175016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health + logs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68680" y="37033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Final message for students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68680" y="416052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A serious AI/ML or software project should not stop at a notebook. Turn it into an API, package it, run it consistently, and prove it works from outside your machine.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14400" y="5532120"/>
            <a:ext cx="2423160" cy="347472"/>
          </a:xfrm>
          <a:prstGeom prst="roundRect">
            <a:avLst>
              <a:gd name="adj" fmla="val 21053"/>
            </a:avLst>
          </a:prstGeom>
          <a:solidFill>
            <a:srgbClr val="1D63ED">
              <a:alpha val="92000"/>
            </a:srgbClr>
          </a:solidFill>
          <a:ln w="12700">
            <a:solidFill>
              <a:srgbClr val="1D63E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" y="5618988"/>
            <a:ext cx="2185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Docker = reproducible runtime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11880" y="553212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009688">
              <a:alpha val="92000"/>
            </a:srgbClr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0752" y="5618988"/>
            <a:ext cx="2093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FastAPI = network contract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55321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7C3AED">
              <a:alpha val="9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36792" y="5618988"/>
            <a:ext cx="2322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Together = deployable service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" y="6492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Wrap-up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498080" y="64922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Docker &amp; FastAPI Fundamentals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659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7724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D5E1"/>
                </a:solidFill>
              </a:rPr>
              <a:t>Suggested Q&amp;A prompts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What happens when the container starts?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How does FastAPI know which function to call?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Why does port mapping matter?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How would you debug a 422 or 500?</a:t>
            </a:r>
            <a:endParaRPr lang="en-US" sz="1600" dirty="0"/>
          </a:p>
        </p:txBody>
      </p:sp>
      <p:pic>
        <p:nvPicPr>
          <p:cNvPr id="5" name="Image 0" descr="/mnt/data/docker_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25880"/>
            <a:ext cx="3200400" cy="1801368"/>
          </a:xfrm>
          <a:prstGeom prst="rect">
            <a:avLst/>
          </a:prstGeom>
        </p:spPr>
      </p:pic>
      <p:pic>
        <p:nvPicPr>
          <p:cNvPr id="6" name="Image 1" descr="/mnt/data/fastap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3840480"/>
            <a:ext cx="3246120" cy="6035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2673</Words>
  <Application>Microsoft Office PowerPoint</Application>
  <PresentationFormat>Widescreen</PresentationFormat>
  <Paragraphs>555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Aptos Mono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&amp; FastAPI Fundamentals</dc:title>
  <dc:subject>Docker and FastAPI fundamentals for students</dc:subject>
  <dc:creator>OpenAI</dc:creator>
  <cp:lastModifiedBy>Sanjay N T</cp:lastModifiedBy>
  <cp:revision>3</cp:revision>
  <dcterms:created xsi:type="dcterms:W3CDTF">2026-07-11T01:19:47Z</dcterms:created>
  <dcterms:modified xsi:type="dcterms:W3CDTF">2026-07-11T02:52:06Z</dcterms:modified>
</cp:coreProperties>
</file>